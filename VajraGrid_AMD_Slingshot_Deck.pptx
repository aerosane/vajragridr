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TextBox 56"/>
          <p:cNvSpPr txBox="1"/>
          <p:nvPr/>
        </p:nvSpPr>
        <p:spPr>
          <a:xfrm>
            <a:off x="250000" y="150000"/>
            <a:ext cx="45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VajraGrid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0000" y="680000"/>
            <a:ext cx="5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DDDDD"/>
                </a:solidFill>
              </a:rPr>
              <a:t>AI-Driven Cyber Defense for Smart Power Grids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000" y="3550000"/>
            <a:ext cx="4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</a:rPr>
              <a:t>Team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0000" y="3920000"/>
            <a:ext cx="60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44444"/>
                </a:solidFill>
              </a:rPr>
              <a:t>Team: Innovibe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Lead: D Shantan Dheer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Members: MJ Emmanuel, Jakkula Tarun</a:t>
            </a:r>
          </a:p>
          <a:p>
            <a:pPr algn="l"/>
            <a:r>
              <a:rPr sz="1300" b="0">
                <a:solidFill>
                  <a:srgbClr val="444444"/>
                </a:solidFill>
              </a:rPr>
              <a:t>Problem: Smart Grid Cybersecurity &amp; AI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Brief About the Idea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350000" y="1100000"/>
            <a:ext cx="26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575+ GW</a:t>
            </a:r>
          </a:p>
          <a:p>
            <a:r>
              <a:rPr sz="900">
                <a:solidFill>
                  <a:srgbClr val="CCCCCC"/>
                </a:solidFill>
              </a:rPr>
              <a:t>India's Grid — 3rd Largest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50000" y="1100000"/>
            <a:ext cx="26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₹100+ Cr</a:t>
            </a:r>
          </a:p>
          <a:p>
            <a:r>
              <a:rPr sz="900">
                <a:solidFill>
                  <a:srgbClr val="CCCCCC"/>
                </a:solidFill>
              </a:rPr>
              <a:t>Cost Per Hour of Downtime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50000" y="1100000"/>
            <a:ext cx="26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ZERO</a:t>
            </a:r>
          </a:p>
          <a:p>
            <a:r>
              <a:rPr sz="900">
                <a:solidFill>
                  <a:srgbClr val="CCCCCC"/>
                </a:solidFill>
              </a:rPr>
              <a:t>AI Cyber Defense for Indian Grid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50000" y="1900000"/>
            <a:ext cx="4100000" cy="15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The Problem</a:t>
            </a:r>
          </a:p>
          <a:p>
            <a:r>
              <a:rPr sz="1000">
                <a:solidFill>
                  <a:srgbClr val="FFFFFF"/>
                </a:solidFill>
              </a:rPr>
              <a:t>• 2020 Mumbai blackout: Chinese malware in SCADA
• 2023 ransomware: zero automated response
• 20 Cr smart meters = new attack surfaces
• No AI cyber defense exists for Indian grids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650000" y="1900000"/>
            <a:ext cx="4100000" cy="15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VajraGrid Solution</a:t>
            </a:r>
          </a:p>
          <a:p>
            <a:r>
              <a:rPr sz="1000">
                <a:solidFill>
                  <a:srgbClr val="FFFFFF"/>
                </a:solidFill>
              </a:rPr>
              <a:t>• 4-layer AI detection (Rules→Physics→Stats→ML)
• VajraShield™ autonomous FLISR healing
• &lt;3s detection, 16s full grid restoration
• Edge-first on AMD Ryzen AI NPU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50000" y="3550000"/>
            <a:ext cx="8400000" cy="550000"/>
          </a:xfrm>
          <a:prstGeom prst="roundRect">
            <a:avLst/>
          </a:prstGeom>
          <a:solidFill>
            <a:srgbClr val="0D1B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CCCC"/>
                </a:solidFill>
              </a:rPr>
              <a:t>VajraShield™ detects attacks in &lt;3 seconds and restores grid in 16 seconds — no human intervention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Opportunities &amp; Differentiation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350000" y="1200000"/>
            <a:ext cx="2700000" cy="23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How Is It Different?</a:t>
            </a:r>
          </a:p>
          <a:p>
            <a:r>
              <a:rPr sz="900">
                <a:solidFill>
                  <a:srgbClr val="FFFFFF"/>
                </a:solidFill>
              </a:rPr>
              <a:t>Existing tools (OSIsoft PI, ABB FOX615) are passive monitors.
VajraGrid is the FIRST to combine:
• Multi-layer AI detection
• Autonomous grid healing
• Edge NPU deployment
• India-specific grid topology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200000" y="1200000"/>
            <a:ext cx="2700000" cy="23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How Does It Solve?</a:t>
            </a:r>
          </a:p>
          <a:p>
            <a:r>
              <a:rPr sz="900">
                <a:solidFill>
                  <a:srgbClr val="FFFFFF"/>
                </a:solidFill>
              </a:rPr>
              <a:t>Manual response: 30-90 minutes.
VajraGrid: 3s detect + 16s heal.
• Zero false positive design
• Works on airgapped substations
• Scales to 250K+ substations
• ₹2-5L per edge node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050000" y="1200000"/>
            <a:ext cx="2700000" cy="23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USP</a:t>
            </a:r>
          </a:p>
          <a:p>
            <a:r>
              <a:rPr sz="900">
                <a:solidFill>
                  <a:srgbClr val="FFFFFF"/>
                </a:solidFill>
              </a:rPr>
              <a:t>• 4-Layer Fusion Detection
• Physics-aware (Kirchhoff validation)
• Self-healing FLISR algorithm
• AMD Ryzen AI NPU optimized
• Real working prototype
• ₹100+ Cr/incident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Key Features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350000" y="110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4-Layer Detection</a:t>
            </a:r>
          </a:p>
          <a:p>
            <a:r>
              <a:rPr sz="900">
                <a:solidFill>
                  <a:srgbClr val="FFFFFF"/>
                </a:solidFill>
              </a:rPr>
              <a:t>Rules (9) → Physics → Stats → ML/ONNX. Each &lt;500ms.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500000" y="110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AlertClassifier Fusion</a:t>
            </a:r>
          </a:p>
          <a:p>
            <a:r>
              <a:rPr sz="900">
                <a:solidFill>
                  <a:srgbClr val="FFFFFF"/>
                </a:solidFill>
              </a:rPr>
              <a:t>Multi-signal confidence → triggers VajraShield at 0.90+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650000" y="110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VajraShield™ FLISR</a:t>
            </a:r>
          </a:p>
          <a:p>
            <a:r>
              <a:rPr sz="900">
                <a:solidFill>
                  <a:srgbClr val="FFFFFF"/>
                </a:solidFill>
              </a:rPr>
              <a:t>Fault locate → isolate → reroute → restore in 16s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800000" y="110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5 Attack Types</a:t>
            </a:r>
          </a:p>
          <a:p>
            <a:r>
              <a:rPr sz="900">
                <a:solidFill>
                  <a:srgbClr val="FFFFFF"/>
                </a:solidFill>
              </a:rPr>
              <a:t>FDI, Command Spoof, MaDIoT, Sensor Tamper, Smart Meter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0000" y="208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SOC Dashboard</a:t>
            </a:r>
          </a:p>
          <a:p>
            <a:r>
              <a:rPr sz="900">
                <a:solidFill>
                  <a:srgbClr val="FFFFFF"/>
                </a:solidFill>
              </a:rPr>
              <a:t>Live telemetry, topology map, threat timeline, alert feed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500000" y="208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Topology Agnostic</a:t>
            </a:r>
          </a:p>
          <a:p>
            <a:r>
              <a:rPr sz="900">
                <a:solidFill>
                  <a:srgbClr val="FFFFFF"/>
                </a:solidFill>
              </a:rPr>
              <a:t>5-bus demo scales to 10K+ node state grids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650000" y="208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Edge Deployment</a:t>
            </a:r>
          </a:p>
          <a:p>
            <a:r>
              <a:rPr sz="900">
                <a:solidFill>
                  <a:srgbClr val="FFFFFF"/>
                </a:solidFill>
              </a:rPr>
              <a:t>ONNX on AMD Ryzen AI NPU — 50 TOPS, 15W cTDP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800000" y="2080000"/>
            <a:ext cx="2050000" cy="8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Mobile Responsive</a:t>
            </a:r>
          </a:p>
          <a:p>
            <a:r>
              <a:rPr sz="900">
                <a:solidFill>
                  <a:srgbClr val="FFFFFF"/>
                </a:solidFill>
              </a:rPr>
              <a:t>Full SOC on mobile: drawer nav, compact cards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Detection &amp; Healing Pipeline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Rounded Rectangle 91"/>
          <p:cNvSpPr/>
          <p:nvPr/>
        </p:nvSpPr>
        <p:spPr>
          <a:xfrm>
            <a:off x="200000" y="1050000"/>
            <a:ext cx="8650000" cy="500000"/>
          </a:xfrm>
          <a:prstGeom prst="roundRect">
            <a:avLst/>
          </a:prstGeom>
          <a:solidFill>
            <a:srgbClr val="0D1B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CCCC"/>
                </a:solidFill>
              </a:rPr>
              <a:t>DATA FLOW: SCADA Telemetry (1s) → API → DataGenerator → 4 Detection Engines → AlertClassifier → VajraShield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00000" y="1700000"/>
            <a:ext cx="2050000" cy="6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Rule Engine</a:t>
            </a:r>
          </a:p>
          <a:p>
            <a:r>
              <a:rPr sz="1000">
                <a:solidFill>
                  <a:srgbClr val="FFFFFF"/>
                </a:solidFill>
              </a:rPr>
              <a:t>9 rules
&lt;100ms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400000" y="1700000"/>
            <a:ext cx="2050000" cy="6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8C00"/>
                </a:solidFill>
              </a:rPr>
              <a:t>Physics Engine</a:t>
            </a:r>
          </a:p>
          <a:p>
            <a:r>
              <a:rPr sz="1000">
                <a:solidFill>
                  <a:srgbClr val="FFFFFF"/>
                </a:solidFill>
              </a:rPr>
              <a:t>4 Kirchhoff checks
&lt;100ms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4600000" y="1700000"/>
            <a:ext cx="2050000" cy="6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005CED"/>
                </a:solidFill>
              </a:rPr>
              <a:t>Statistical</a:t>
            </a:r>
          </a:p>
          <a:p>
            <a:r>
              <a:rPr sz="1000">
                <a:solidFill>
                  <a:srgbClr val="FFFFFF"/>
                </a:solidFill>
              </a:rPr>
              <a:t>Z-score + CUSUM
&lt;200ms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800000" y="1700000"/>
            <a:ext cx="2050000" cy="6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CB731"/>
                </a:solidFill>
              </a:rPr>
              <a:t>ML/ONNX</a:t>
            </a:r>
          </a:p>
          <a:p>
            <a:r>
              <a:rPr sz="1000">
                <a:solidFill>
                  <a:srgbClr val="FFFFFF"/>
                </a:solidFill>
              </a:rPr>
              <a:t>Isolation Forest
&lt;500ms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200000" y="2500000"/>
            <a:ext cx="8650000" cy="500000"/>
          </a:xfrm>
          <a:prstGeom prst="roundRect">
            <a:avLst/>
          </a:prstGeom>
          <a:solidFill>
            <a:srgbClr val="0D1B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CCCC"/>
                </a:solidFill>
              </a:rPr>
              <a:t>ALERTCLASSIFIER FUSION: All 4 layers → Multi-signal confidence score ≥ 0.90 → VajraShield™ trigger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00000" y="3150000"/>
            <a:ext cx="1350000" cy="420000"/>
          </a:xfrm>
          <a:prstGeom prst="roundRect">
            <a:avLst/>
          </a:prstGeom>
          <a:solidFill>
            <a:srgbClr val="ED1C24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DETECTING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650000" y="3150000"/>
            <a:ext cx="1350000" cy="420000"/>
          </a:xfrm>
          <a:prstGeom prst="roundRect">
            <a:avLst/>
          </a:prstGeom>
          <a:solidFill>
            <a:srgbClr val="FF8C00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ISOLATING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3100000" y="3150000"/>
            <a:ext cx="1350000" cy="420000"/>
          </a:xfrm>
          <a:prstGeom prst="roundRect">
            <a:avLst/>
          </a:prstGeom>
          <a:solidFill>
            <a:srgbClr val="005CED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REROUTING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550000" y="3150000"/>
            <a:ext cx="1350000" cy="420000"/>
          </a:xfrm>
          <a:prstGeom prst="roundRect">
            <a:avLst/>
          </a:prstGeom>
          <a:solidFill>
            <a:srgbClr val="00BCD4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MONITORING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000000" y="3150000"/>
            <a:ext cx="1350000" cy="420000"/>
          </a:xfrm>
          <a:prstGeom prst="roundRect">
            <a:avLst/>
          </a:prstGeom>
          <a:solidFill>
            <a:srgbClr val="2CB731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RESTORING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7450000" y="3150000"/>
            <a:ext cx="1350000" cy="420000"/>
          </a:xfrm>
          <a:prstGeom prst="roundRect">
            <a:avLst/>
          </a:prstGeom>
          <a:solidFill>
            <a:srgbClr val="2CB731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RESTORED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00000" y="3700000"/>
            <a:ext cx="8650000" cy="420000"/>
          </a:xfrm>
          <a:prstGeom prst="roundRect">
            <a:avLst/>
          </a:prstGeom>
          <a:solidFill>
            <a:srgbClr val="0D1B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CCCC"/>
                </a:solidFill>
              </a:rPr>
              <a:t>TIMING: Detection &lt;3s | Full Heal Cycle: 16s | Manual baseline: 30-90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>
            <a:spLocks noGrp="1"/>
          </p:cNvSpPr>
          <p:nvPr>
            <p:ph type="ctrTitle"/>
          </p:nvPr>
        </p:nvSpPr>
        <p:spPr>
          <a:xfrm>
            <a:off x="365760" y="685800"/>
            <a:ext cx="2743200" cy="4114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Live Dashboard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0" name="Picture 99" descr="cropped-dashboard-initi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908" y="1097280"/>
            <a:ext cx="2843377" cy="3017520"/>
          </a:xfrm>
          <a:prstGeom prst="rect">
            <a:avLst/>
          </a:prstGeom>
        </p:spPr>
      </p:pic>
      <p:pic>
        <p:nvPicPr>
          <p:cNvPr id="101" name="Picture 100" descr="cropped-dashboard-run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56885" y="1097280"/>
            <a:ext cx="4302206" cy="3017520"/>
          </a:xfrm>
          <a:prstGeom prst="rect">
            <a:avLst/>
          </a:prstGeom>
        </p:spPr>
      </p:pic>
      <p:sp>
        <p:nvSpPr>
          <p:cNvPr id="102" name="Rounded Rectangle 101"/>
          <p:cNvSpPr/>
          <p:nvPr/>
        </p:nvSpPr>
        <p:spPr>
          <a:xfrm>
            <a:off x="884908" y="4187952"/>
            <a:ext cx="2843377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4444"/>
                </a:solidFill>
              </a:rPr>
              <a:t>Dashboard at Startup</a:t>
            </a:r>
          </a:p>
          <a:p>
            <a:pPr algn="ctr"/>
            <a:r>
              <a:rPr sz="800">
                <a:solidFill>
                  <a:srgbClr val="CCCCCC"/>
                </a:solidFill>
              </a:rPr>
              <a:t>Topology map, metric cards, dark SOC theme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956885" y="4187952"/>
            <a:ext cx="4302206" cy="411480"/>
          </a:xfrm>
          <a:prstGeom prst="round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4444"/>
                </a:solidFill>
              </a:rPr>
              <a:t>Live Simulation + Healing</a:t>
            </a:r>
          </a:p>
          <a:p>
            <a:pPr algn="ctr"/>
            <a:r>
              <a:rPr sz="800">
                <a:solidFill>
                  <a:srgbClr val="CCCCCC"/>
                </a:solidFill>
              </a:rPr>
              <a:t>Real-time telemetry, alerts, VajraShield FLISR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System Architecture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Rounded Rectangle 107"/>
          <p:cNvSpPr/>
          <p:nvPr/>
        </p:nvSpPr>
        <p:spPr>
          <a:xfrm>
            <a:off x="350000" y="1050000"/>
            <a:ext cx="8400000" cy="52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ED1C24"/>
                </a:solidFill>
              </a:rPr>
              <a:t>PRESENTATION</a:t>
            </a:r>
          </a:p>
          <a:p>
            <a:r>
              <a:rPr sz="900">
                <a:solidFill>
                  <a:srgbClr val="FFFFFF"/>
                </a:solidFill>
              </a:rPr>
              <a:t>Next.js 16 + React 19 | Tailwind v4 | Recharts + Topology Canvas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350000" y="1630000"/>
            <a:ext cx="8400000" cy="52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ED1C24"/>
                </a:solidFill>
              </a:rPr>
              <a:t>API LAYER</a:t>
            </a:r>
          </a:p>
          <a:p>
            <a:r>
              <a:rPr sz="900">
                <a:solidFill>
                  <a:srgbClr val="FFFFFF"/>
                </a:solidFill>
              </a:rPr>
              <a:t>REST: /api/simulation/{start,stop,attack} | SSE: /api/simulation/stream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50000" y="2210000"/>
            <a:ext cx="8400000" cy="52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ED1C24"/>
                </a:solidFill>
              </a:rPr>
              <a:t>SIMULATION ENGINE</a:t>
            </a:r>
          </a:p>
          <a:p>
            <a:r>
              <a:rPr sz="900">
                <a:solidFill>
                  <a:srgbClr val="FFFFFF"/>
                </a:solidFill>
              </a:rPr>
              <a:t>DataGenerator → Telemetry (V, f, P, Q, θ, AMI) | 5 Attack Injectors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50000" y="2790000"/>
            <a:ext cx="8400000" cy="52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ED1C24"/>
                </a:solidFill>
              </a:rPr>
              <a:t>4-LAYER DETECTION</a:t>
            </a:r>
          </a:p>
          <a:p>
            <a:r>
              <a:rPr sz="900">
                <a:solidFill>
                  <a:srgbClr val="FFFFFF"/>
                </a:solidFill>
              </a:rPr>
              <a:t>Rules (9) → Physics (4) → Statistical (Z+CUSUM) → ML/ONNX (IsolationForest)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350000" y="3370000"/>
            <a:ext cx="8400000" cy="52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ED1C24"/>
                </a:solidFill>
              </a:rPr>
              <a:t>VAJRASHIELD™</a:t>
            </a:r>
          </a:p>
          <a:p>
            <a:r>
              <a:rPr sz="900">
                <a:solidFill>
                  <a:srgbClr val="FFFFFF"/>
                </a:solidFill>
              </a:rPr>
              <a:t>FLISR: Fault Location → Breaker Isolation → Power Rerouting → Restoration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350000" y="3950000"/>
            <a:ext cx="8400000" cy="52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ED1C24"/>
                </a:solidFill>
              </a:rPr>
              <a:t>AMD HARDWARE</a:t>
            </a:r>
          </a:p>
          <a:p>
            <a:r>
              <a:rPr sz="900">
                <a:solidFill>
                  <a:srgbClr val="FFFFFF"/>
                </a:solidFill>
              </a:rPr>
              <a:t>Edge: Ryzen AI NPU (XDNA 50 TOPS) + VitisAI | Dev: EPYC AVX2+FMA3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Technology Stack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16" name="Table 115"/>
          <p:cNvGraphicFramePr>
            <a:graphicFrameLocks noGrp="1"/>
          </p:cNvGraphicFramePr>
          <p:nvPr/>
        </p:nvGraphicFramePr>
        <p:xfrm>
          <a:off x="350000" y="1100000"/>
          <a:ext cx="8400000" cy="3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777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Technology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Next.js 16, React 19, Tailwind v4, Recharts, D3.js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Backend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Next.js API Routes, Server-Sent Events (SSE)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AI/ML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ONNX Runtime (Isolation Forest), 4-Layer Detection Pipeline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Simulation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Custom DataGenerator, 5 Attack Models, Physics Engine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Self-Healing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VajraShield FLISR Algorithm (6 phases)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Hardware Target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>
                          <a:solidFill>
                            <a:srgbClr val="333333"/>
                          </a:solidFill>
                        </a:rPr>
                        <a:t>AMD Ryzen AI NPU (XDNA), Vitis AI EP, Quark INT8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777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Dev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AMD EPYC (AVX2+FMA3), GitHub Codespaces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784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Testing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dirty="0" err="1">
                          <a:solidFill>
                            <a:srgbClr val="333333"/>
                          </a:solidFill>
                        </a:rPr>
                        <a:t>Vitest</a:t>
                      </a: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 (37/37), </a:t>
                      </a:r>
                      <a:r>
                        <a:rPr sz="1000" dirty="0" err="1">
                          <a:solidFill>
                            <a:srgbClr val="333333"/>
                          </a:solidFill>
                        </a:rPr>
                        <a:t>ESLint</a:t>
                      </a:r>
                      <a:r>
                        <a:rPr sz="1000" dirty="0">
                          <a:solidFill>
                            <a:srgbClr val="333333"/>
                          </a:solidFill>
                        </a:rPr>
                        <a:t>, TypeScript Strict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1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AMD Products &amp; Solutions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Rounded Rectangle 123"/>
          <p:cNvSpPr/>
          <p:nvPr/>
        </p:nvSpPr>
        <p:spPr>
          <a:xfrm>
            <a:off x="350000" y="1100000"/>
            <a:ext cx="4100000" cy="15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AMD Ryzen™ AI NPU — XDNA</a:t>
            </a:r>
          </a:p>
          <a:p>
            <a:r>
              <a:rPr sz="900">
                <a:solidFill>
                  <a:srgbClr val="FFFFFF"/>
                </a:solidFill>
              </a:rPr>
              <a:t>• Edge inference at substations
• 50 TOPS sustained, 15W cTDP
• Runs anomaly_detector.onnx locally
• &lt;5ms inference vs 200ms cloud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550000" y="1100000"/>
            <a:ext cx="4100000" cy="15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ONNX + Vitis AI EP</a:t>
            </a:r>
          </a:p>
          <a:p>
            <a:r>
              <a:rPr sz="900">
                <a:solidFill>
                  <a:srgbClr val="FFFFFF"/>
                </a:solidFill>
              </a:rPr>
              <a:t>• Model already in ONNX format
• VitisAI Execution Provider for NPU
• Quark INT8 quantization (&lt;1% loss)
• Zero framework changes needed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50000" y="2800000"/>
            <a:ext cx="4100000" cy="15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AMD EPYC — Dev Platform</a:t>
            </a:r>
          </a:p>
          <a:p>
            <a:r>
              <a:rPr sz="900">
                <a:solidFill>
                  <a:srgbClr val="FFFFFF"/>
                </a:solidFill>
              </a:rPr>
              <a:t>• Current prototype on EPYC/AVX2
• 31,500 inferences/sec achieved
• OpenBLAS DYNAMIC_ARCH support
• Cloud dev → edge deployment path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550000" y="2800000"/>
            <a:ext cx="4100000" cy="15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Zen 5 CPU — Heterogeneous</a:t>
            </a:r>
          </a:p>
          <a:p>
            <a:r>
              <a:rPr sz="900">
                <a:solidFill>
                  <a:srgbClr val="FFFFFF"/>
                </a:solidFill>
              </a:rPr>
              <a:t>• Rules/Physics/Stats on CPU cores
• ML offloaded to NPU
• Parallel processing pipeline
• ROCm GPU path for training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50000" y="4500000"/>
            <a:ext cx="8400000" cy="400000"/>
          </a:xfrm>
          <a:prstGeom prst="roundRect">
            <a:avLst/>
          </a:prstGeom>
          <a:solidFill>
            <a:srgbClr val="0D1B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CCCC"/>
                </a:solidFill>
              </a:rPr>
              <a:t>Edge node: ~₹2-5L/substation | Up to 5-8x inference speedup (NPU vs CPU) | 15W cTDP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Commercial Impact &amp; ROI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350000" y="105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$8.3B</a:t>
            </a:r>
          </a:p>
          <a:p>
            <a:r>
              <a:rPr sz="900">
                <a:solidFill>
                  <a:srgbClr val="CCCCCC"/>
                </a:solidFill>
              </a:rPr>
              <a:t>Grid Market 2025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2500000" y="105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$22.7B</a:t>
            </a:r>
          </a:p>
          <a:p>
            <a:r>
              <a:rPr sz="900">
                <a:solidFill>
                  <a:srgbClr val="CCCCCC"/>
                </a:solidFill>
              </a:rPr>
              <a:t>2034 @ 11.7% CAGR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4650000" y="105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11.7%</a:t>
            </a:r>
          </a:p>
          <a:p>
            <a:r>
              <a:rPr sz="900">
                <a:solidFill>
                  <a:srgbClr val="CCCCCC"/>
                </a:solidFill>
              </a:rPr>
              <a:t>Smart Grid Cyber CAGR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800000" y="105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&lt;1 Event</a:t>
            </a:r>
          </a:p>
          <a:p>
            <a:r>
              <a:rPr sz="900">
                <a:solidFill>
                  <a:srgbClr val="CCCCCC"/>
                </a:solidFill>
              </a:rPr>
              <a:t>Payback Period</a:t>
            </a:r>
          </a:p>
        </p:txBody>
      </p:sp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350000" y="1850000"/>
          <a:ext cx="48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Revenue Stream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Pricing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SaaS per-substation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₹5,000/month/node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Enterprise license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₹50L-1Cr/year per DISCOM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Edge 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₹2-5L per AMD Ryzen AI node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Rounded Rectangle 136"/>
          <p:cNvSpPr/>
          <p:nvPr/>
        </p:nvSpPr>
        <p:spPr>
          <a:xfrm>
            <a:off x="5400000" y="1850000"/>
            <a:ext cx="3350000" cy="15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ROI Case</a:t>
            </a:r>
          </a:p>
          <a:p>
            <a:r>
              <a:rPr sz="900">
                <a:solidFill>
                  <a:srgbClr val="FFFFFF"/>
                </a:solidFill>
              </a:rPr>
              <a:t>• Avg blackout: ₹100+ Cr/incident
• VajraGrid: &lt;3s detect, 16s heal
• Manual: 30-90 min response
• Risk reduction: ~99%
• Payback: &lt;1 prevented event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50000" y="3500000"/>
            <a:ext cx="8400000" cy="500000"/>
          </a:xfrm>
          <a:prstGeom prst="roundRect">
            <a:avLst/>
          </a:prstGeom>
          <a:solidFill>
            <a:srgbClr val="0D1B2A">
              <a:alpha val="8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CCCCCC"/>
                </a:solidFill>
              </a:rPr>
              <a:t>Customers: State DISCOMs (BESCOM, MSEDCL, TPDDL) | PGCIL | Smart Meter Vendors | Industrial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Prototype Assets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Rounded Rectangle 140"/>
          <p:cNvSpPr/>
          <p:nvPr/>
        </p:nvSpPr>
        <p:spPr>
          <a:xfrm>
            <a:off x="350000" y="1300000"/>
            <a:ext cx="4100000" cy="15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GitHub Repository</a:t>
            </a:r>
          </a:p>
          <a:p>
            <a:r>
              <a:rPr sz="900">
                <a:solidFill>
                  <a:srgbClr val="FFFFFF"/>
                </a:solidFill>
              </a:rPr>
              <a:t>Primary: github.com/vajragrid
Mirror: github.com/D Shantan Dheer/vajragridr
Tech: Next.js 16 + ONNX Runtime
License: MIT Open Source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4650000" y="1300000"/>
            <a:ext cx="4100000" cy="15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Demo Walkthrough</a:t>
            </a:r>
          </a:p>
          <a:p>
            <a:r>
              <a:rPr sz="900">
                <a:solidFill>
                  <a:srgbClr val="FFFFFF"/>
                </a:solidFill>
              </a:rPr>
              <a:t>1. Open VajraGrid dashboard
2. Click "Start Simulation"
3. Observe live telemetry
4. Trigger attack → watch detection
5. VajraShield auto-heals grid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50000" y="300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37/37</a:t>
            </a:r>
          </a:p>
          <a:p>
            <a:r>
              <a:rPr sz="900">
                <a:solidFill>
                  <a:srgbClr val="CCCCCC"/>
                </a:solidFill>
              </a:rPr>
              <a:t>Tests Pass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500000" y="300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</a:t>
            </a:r>
          </a:p>
          <a:p>
            <a:r>
              <a:rPr sz="900">
                <a:solidFill>
                  <a:srgbClr val="CCCCCC"/>
                </a:solidFill>
              </a:rPr>
              <a:t>Warnings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4650000" y="300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95.8%</a:t>
            </a:r>
          </a:p>
          <a:p>
            <a:r>
              <a:rPr sz="900">
                <a:solidFill>
                  <a:srgbClr val="CCCCCC"/>
                </a:solidFill>
              </a:rPr>
              <a:t>ML Rate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800000" y="3000000"/>
            <a:ext cx="2000000" cy="650000"/>
          </a:xfrm>
          <a:prstGeom prst="roundRect">
            <a:avLst/>
          </a:prstGeom>
          <a:solidFill>
            <a:srgbClr val="16213E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0.2%</a:t>
            </a:r>
          </a:p>
          <a:p>
            <a:r>
              <a:rPr sz="900">
                <a:solidFill>
                  <a:srgbClr val="CCCCCC"/>
                </a:solidFill>
              </a:rPr>
              <a:t>False +ve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>
            <a:spLocks noGrp="1"/>
          </p:cNvSpPr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sz="2400" b="1">
                <a:solidFill>
                  <a:srgbClr val="1A1A2E"/>
                </a:solidFill>
              </a:rPr>
              <a:t>Scalability &amp; Roadmap</a:t>
            </a:r>
            <a:endParaRPr sz="1620" b="1">
              <a:latin typeface="Poppins"/>
              <a:ea typeface="Poppins"/>
              <a:cs typeface="Poppins"/>
              <a:sym typeface="Poppins"/>
            </a:endParaRPr>
          </a:p>
        </p:txBody>
      </p:sp>
      <p:graphicFrame>
        <p:nvGraphicFramePr>
          <p:cNvPr id="149" name="Table 148"/>
          <p:cNvGraphicFramePr>
            <a:graphicFrameLocks noGrp="1"/>
          </p:cNvGraphicFramePr>
          <p:nvPr/>
        </p:nvGraphicFramePr>
        <p:xfrm>
          <a:off x="350000" y="1050000"/>
          <a:ext cx="8400000" cy="2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5-Bus (Demo)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100-Bus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10K+ (State)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Buses/Nodes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10,000+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Detection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&lt;3s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&lt;5s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&lt;10s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Heal Cycle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16s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30s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60s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1 Ryzen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10 edge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250K+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Single campus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City DISCOM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333333"/>
                          </a:solidFill>
                        </a:rPr>
                        <a:t>State/National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0" name="Rounded Rectangle 149"/>
          <p:cNvSpPr/>
          <p:nvPr/>
        </p:nvSpPr>
        <p:spPr>
          <a:xfrm>
            <a:off x="350000" y="3300000"/>
            <a:ext cx="2700000" cy="9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Near-Term</a:t>
            </a:r>
          </a:p>
          <a:p>
            <a:r>
              <a:rPr sz="900">
                <a:solidFill>
                  <a:srgbClr val="FFFFFF"/>
                </a:solidFill>
              </a:rPr>
              <a:t>• OPC-UA SCADA adapter
• Real telemetry integration
• CERC compliance module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200000" y="3300000"/>
            <a:ext cx="2700000" cy="9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Mid-Term</a:t>
            </a:r>
          </a:p>
          <a:p>
            <a:r>
              <a:rPr sz="900">
                <a:solidFill>
                  <a:srgbClr val="FFFFFF"/>
                </a:solidFill>
              </a:rPr>
              <a:t>• GIS Mapbox dashboard
• Multi-DISCOM federation
• AMI head-end protection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6050000" y="3300000"/>
            <a:ext cx="2700000" cy="90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Long-Term</a:t>
            </a:r>
          </a:p>
          <a:p>
            <a:r>
              <a:rPr sz="900">
                <a:solidFill>
                  <a:srgbClr val="FFFFFF"/>
                </a:solidFill>
              </a:rPr>
              <a:t>• Commercial SaaS platform
• International grid standards
• ROCm GPU training pipeline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Rounded Rectangle 154"/>
          <p:cNvSpPr/>
          <p:nvPr/>
        </p:nvSpPr>
        <p:spPr>
          <a:xfrm>
            <a:off x="350000" y="650000"/>
            <a:ext cx="8400000" cy="400000"/>
          </a:xfrm>
          <a:prstGeom prst="roundRect">
            <a:avLst/>
          </a:prstGeom>
          <a:solidFill>
            <a:srgbClr val="F5F5FA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2E"/>
                </a:solidFill>
              </a:rPr>
              <a:t>Attack Detection — How It Works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350000" y="1150000"/>
            <a:ext cx="8400000" cy="8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Layer 1: Rule Engine</a:t>
            </a:r>
          </a:p>
          <a:p>
            <a:r>
              <a:rPr sz="900">
                <a:solidFill>
                  <a:srgbClr val="FFFFFF"/>
                </a:solidFill>
              </a:rPr>
              <a:t>9 predefined rules check voltage (±5%), frequency (±0.5Hz), ROCOF, breaker status, power factor. Deterministic, &lt;100ms. Catches command spoofing and sensor tampering instantly.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350000" y="2100000"/>
            <a:ext cx="8400000" cy="8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Layer 2: Physics Engine</a:t>
            </a:r>
          </a:p>
          <a:p>
            <a:r>
              <a:rPr sz="900">
                <a:solidFill>
                  <a:srgbClr val="FFFFFF"/>
                </a:solidFill>
              </a:rPr>
              <a:t>4 physics-based validations: power balance (ΔP&lt;5%), Kirchhoff current law, reactive power coupling, voltage-angle consistency. Catches FDI and MaDIoT attacks.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50000" y="3050000"/>
            <a:ext cx="8400000" cy="8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Layer 3: Statistical Engine</a:t>
            </a:r>
          </a:p>
          <a:p>
            <a:r>
              <a:rPr sz="900">
                <a:solidFill>
                  <a:srgbClr val="FFFFFF"/>
                </a:solidFill>
              </a:rPr>
              <a:t>Z-score outlier detection + CUSUM change detection. Cross-bus correlation analysis. Catches slow drift attacks and ramp manipulations.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50000" y="4000000"/>
            <a:ext cx="8400000" cy="85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Layer 4: ML/ONNX</a:t>
            </a:r>
          </a:p>
          <a:p>
            <a:r>
              <a:rPr sz="900">
                <a:solidFill>
                  <a:srgbClr val="FFFFFF"/>
                </a:solidFill>
              </a:rPr>
              <a:t>Isolation Forest trained on normal+attack patterns. ONNX Runtime inference. 95.8% accuracy, 0.2% false positive. Catches novel zero-day attacks.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Rounded Rectangle 160"/>
          <p:cNvSpPr/>
          <p:nvPr/>
        </p:nvSpPr>
        <p:spPr>
          <a:xfrm>
            <a:off x="350000" y="650000"/>
            <a:ext cx="8400000" cy="400000"/>
          </a:xfrm>
          <a:prstGeom prst="roundRect">
            <a:avLst/>
          </a:prstGeom>
          <a:solidFill>
            <a:srgbClr val="F5F5FA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A1A2E"/>
                </a:solidFill>
              </a:rPr>
              <a:t>VajraShield™ — Autonomous Grid Healing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350000" y="1150000"/>
            <a:ext cx="8400000" cy="6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DETECTING (0-3s)</a:t>
            </a:r>
          </a:p>
          <a:p>
            <a:r>
              <a:rPr sz="900">
                <a:solidFill>
                  <a:srgbClr val="FFFFFF"/>
                </a:solidFill>
              </a:rPr>
              <a:t>AlertClassifier fuses all 4 layers. When combined confidence ≥ 0.90, VajraShield activates. Identifies affected bus segment.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350000" y="1900000"/>
            <a:ext cx="8400000" cy="6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ISOLATING (3-5s)</a:t>
            </a:r>
          </a:p>
          <a:p>
            <a:r>
              <a:rPr sz="900">
                <a:solidFill>
                  <a:srgbClr val="FFFFFF"/>
                </a:solidFill>
              </a:rPr>
              <a:t>Opens breakers on compromised bus. Prevents cascading failures. Logs isolation event to SOC dashboard.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50000" y="2650000"/>
            <a:ext cx="8400000" cy="6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REROUTING (5-10s)</a:t>
            </a:r>
          </a:p>
          <a:p>
            <a:r>
              <a:rPr sz="900">
                <a:solidFill>
                  <a:srgbClr val="FFFFFF"/>
                </a:solidFill>
              </a:rPr>
              <a:t>Calculates alternate power paths. Transfers load to healthy buses. Maintains grid stability during transition.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350000" y="3400000"/>
            <a:ext cx="8400000" cy="6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MONITORING (10-13s)</a:t>
            </a:r>
          </a:p>
          <a:p>
            <a:r>
              <a:rPr sz="900">
                <a:solidFill>
                  <a:srgbClr val="FFFFFF"/>
                </a:solidFill>
              </a:rPr>
              <a:t>Validates grid stability post-reroute. Checks voltage, frequency, power balance on all buses. Confirms no secondary faults.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50000" y="4150000"/>
            <a:ext cx="8400000" cy="680000"/>
          </a:xfrm>
          <a:prstGeom prst="roundRect">
            <a:avLst/>
          </a:prstGeom>
          <a:solidFill>
            <a:srgbClr val="16213E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ED1C24"/>
                </a:solidFill>
              </a:rPr>
              <a:t>RESTORING (13-16s)</a:t>
            </a:r>
          </a:p>
          <a:p>
            <a:r>
              <a:rPr sz="900">
                <a:solidFill>
                  <a:srgbClr val="FFFFFF"/>
                </a:solidFill>
              </a:rPr>
              <a:t>Gradually brings isolated segment back online. Re-closes breakers. Confirms full grid restoration. Total: 16 seconds.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TextBox 167"/>
          <p:cNvSpPr txBox="1"/>
          <p:nvPr/>
        </p:nvSpPr>
        <p:spPr>
          <a:xfrm>
            <a:off x="4500000" y="100000"/>
            <a:ext cx="4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CCCCCC"/>
                </a:solidFill>
              </a:rPr>
              <a:t>VajraGrid  |  Team Innovibe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500000" y="380000"/>
            <a:ext cx="4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999999"/>
                </a:solidFill>
              </a:rPr>
              <a:t>AI-Driven Cyber Defense for Smart Power Grids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Microsoft Office PowerPoint</Application>
  <PresentationFormat>On-screen Show (16:9)</PresentationFormat>
  <Paragraphs>194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Poppins</vt:lpstr>
      <vt:lpstr>Arial</vt:lpstr>
      <vt:lpstr>Simple Light</vt:lpstr>
      <vt:lpstr>PowerPoint Presentation</vt:lpstr>
      <vt:lpstr>Brief About the Idea</vt:lpstr>
      <vt:lpstr>Opportunities &amp; Differentiation</vt:lpstr>
      <vt:lpstr>Key Features</vt:lpstr>
      <vt:lpstr>Detection &amp; Healing Pipeline</vt:lpstr>
      <vt:lpstr>Live Dashboard</vt:lpstr>
      <vt:lpstr>System Architecture</vt:lpstr>
      <vt:lpstr>Technology Stack</vt:lpstr>
      <vt:lpstr>AMD Products &amp; Solutions</vt:lpstr>
      <vt:lpstr>Commercial Impact &amp; ROI</vt:lpstr>
      <vt:lpstr>Prototype Assets</vt:lpstr>
      <vt:lpstr>Scalability &amp; Roadmap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SHANTAN DHEER</cp:lastModifiedBy>
  <cp:revision>1</cp:revision>
  <dcterms:modified xsi:type="dcterms:W3CDTF">2026-03-01T13:03:55Z</dcterms:modified>
</cp:coreProperties>
</file>