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6.svg" ContentType="image/svg+xml"/>
  <Override PartName="/ppt/media/image18.svg" ContentType="image/svg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8288000" cy="10287000"/>
  <p:notesSz cx="6858000" cy="9144000"/>
  <p:embeddedFontLst>
    <p:embeddedFont>
      <p:font typeface="Arimo Bold" panose="020B0704020202020204" pitchFamily="34" charset="0"/>
      <p:regular r:id="rId10"/>
    </p:embeddedFont>
    <p:embeddedFont>
      <p:font typeface="Cy Grotesk Wide Semi-Bold" pitchFamily="2" charset="0"/>
      <p:regular r:id="rId11"/>
    </p:embeddedFont>
    <p:embeddedFont>
      <p:font typeface="Horizon" panose="02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-56" y="-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84300" y="519147"/>
            <a:ext cx="17447434" cy="1973484"/>
            <a:chOff x="0" y="0"/>
            <a:chExt cx="4351475" cy="4921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1475" cy="492196"/>
            </a:xfrm>
            <a:custGeom>
              <a:avLst/>
              <a:gdLst/>
              <a:ahLst/>
              <a:cxnLst/>
              <a:rect l="l" t="t" r="r" b="b"/>
              <a:pathLst>
                <a:path w="4351475" h="492196">
                  <a:moveTo>
                    <a:pt x="44373" y="0"/>
                  </a:moveTo>
                  <a:lnTo>
                    <a:pt x="4307102" y="0"/>
                  </a:lnTo>
                  <a:cubicBezTo>
                    <a:pt x="4318870" y="0"/>
                    <a:pt x="4330157" y="4675"/>
                    <a:pt x="4338479" y="12997"/>
                  </a:cubicBezTo>
                  <a:cubicBezTo>
                    <a:pt x="4346800" y="21318"/>
                    <a:pt x="4351475" y="32604"/>
                    <a:pt x="4351475" y="44373"/>
                  </a:cubicBezTo>
                  <a:lnTo>
                    <a:pt x="4351475" y="447824"/>
                  </a:lnTo>
                  <a:cubicBezTo>
                    <a:pt x="4351475" y="459592"/>
                    <a:pt x="4346800" y="470878"/>
                    <a:pt x="4338479" y="479200"/>
                  </a:cubicBezTo>
                  <a:cubicBezTo>
                    <a:pt x="4330157" y="487522"/>
                    <a:pt x="4318870" y="492196"/>
                    <a:pt x="4307102" y="492196"/>
                  </a:cubicBezTo>
                  <a:lnTo>
                    <a:pt x="44373" y="492196"/>
                  </a:lnTo>
                  <a:cubicBezTo>
                    <a:pt x="32604" y="492196"/>
                    <a:pt x="21318" y="487522"/>
                    <a:pt x="12997" y="479200"/>
                  </a:cubicBezTo>
                  <a:cubicBezTo>
                    <a:pt x="4675" y="470878"/>
                    <a:pt x="0" y="459592"/>
                    <a:pt x="0" y="447824"/>
                  </a:cubicBezTo>
                  <a:lnTo>
                    <a:pt x="0" y="44373"/>
                  </a:lnTo>
                  <a:cubicBezTo>
                    <a:pt x="0" y="32604"/>
                    <a:pt x="4675" y="21318"/>
                    <a:pt x="12997" y="12997"/>
                  </a:cubicBezTo>
                  <a:cubicBezTo>
                    <a:pt x="21318" y="4675"/>
                    <a:pt x="32604" y="0"/>
                    <a:pt x="44373" y="0"/>
                  </a:cubicBezTo>
                  <a:close/>
                </a:path>
              </a:pathLst>
            </a:custGeom>
            <a:solidFill>
              <a:srgbClr val="000000">
                <a:alpha val="34902"/>
              </a:srgbClr>
            </a:solidFill>
            <a:ln w="38100" cap="rnd">
              <a:solidFill>
                <a:srgbClr val="E47F42">
                  <a:alpha val="3490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351475" cy="539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811385" y="519147"/>
            <a:ext cx="2218659" cy="1890160"/>
          </a:xfrm>
          <a:custGeom>
            <a:avLst/>
            <a:gdLst/>
            <a:ahLst/>
            <a:cxnLst/>
            <a:rect l="l" t="t" r="r" b="b"/>
            <a:pathLst>
              <a:path w="2218659" h="1890160">
                <a:moveTo>
                  <a:pt x="0" y="0"/>
                </a:moveTo>
                <a:lnTo>
                  <a:pt x="2218659" y="0"/>
                </a:lnTo>
                <a:lnTo>
                  <a:pt x="2218659" y="1890160"/>
                </a:lnTo>
                <a:lnTo>
                  <a:pt x="0" y="1890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256819" y="860541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759341" y="1091192"/>
            <a:ext cx="1105101" cy="771461"/>
          </a:xfrm>
          <a:custGeom>
            <a:avLst/>
            <a:gdLst/>
            <a:ahLst/>
            <a:cxnLst/>
            <a:rect l="l" t="t" r="r" b="b"/>
            <a:pathLst>
              <a:path w="1105101" h="771461">
                <a:moveTo>
                  <a:pt x="0" y="0"/>
                </a:moveTo>
                <a:lnTo>
                  <a:pt x="1105101" y="0"/>
                </a:lnTo>
                <a:lnTo>
                  <a:pt x="1105101" y="771461"/>
                </a:lnTo>
                <a:lnTo>
                  <a:pt x="0" y="771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642" r="-63095" b="-479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118029" y="735088"/>
            <a:ext cx="1677177" cy="1674219"/>
          </a:xfrm>
          <a:custGeom>
            <a:avLst/>
            <a:gdLst/>
            <a:ahLst/>
            <a:cxnLst/>
            <a:rect l="l" t="t" r="r" b="b"/>
            <a:pathLst>
              <a:path w="1677177" h="1674219">
                <a:moveTo>
                  <a:pt x="0" y="0"/>
                </a:moveTo>
                <a:lnTo>
                  <a:pt x="1677178" y="0"/>
                </a:lnTo>
                <a:lnTo>
                  <a:pt x="1677178" y="1674219"/>
                </a:lnTo>
                <a:lnTo>
                  <a:pt x="0" y="1674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36" t="-507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387725" y="3950854"/>
            <a:ext cx="9571518" cy="521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6"/>
              </a:lnSpc>
            </a:pPr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4811007" y="2523607"/>
            <a:ext cx="9607353" cy="3531362"/>
            <a:chOff x="0" y="0"/>
            <a:chExt cx="12809803" cy="4708482"/>
          </a:xfrm>
        </p:grpSpPr>
        <p:sp>
          <p:nvSpPr>
            <p:cNvPr id="12" name="Freeform 12"/>
            <p:cNvSpPr/>
            <p:nvPr/>
          </p:nvSpPr>
          <p:spPr>
            <a:xfrm>
              <a:off x="0" y="181125"/>
              <a:ext cx="4696902" cy="4346233"/>
            </a:xfrm>
            <a:custGeom>
              <a:avLst/>
              <a:gdLst/>
              <a:ahLst/>
              <a:cxnLst/>
              <a:rect l="l" t="t" r="r" b="b"/>
              <a:pathLst>
                <a:path w="4696902" h="4346233">
                  <a:moveTo>
                    <a:pt x="0" y="0"/>
                  </a:moveTo>
                  <a:lnTo>
                    <a:pt x="4696902" y="0"/>
                  </a:lnTo>
                  <a:lnTo>
                    <a:pt x="4696902" y="4346232"/>
                  </a:lnTo>
                  <a:lnTo>
                    <a:pt x="0" y="434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415" t="-12336" r="-9682" b="-185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080767" y="0"/>
              <a:ext cx="8729037" cy="4708482"/>
            </a:xfrm>
            <a:custGeom>
              <a:avLst/>
              <a:gdLst/>
              <a:ahLst/>
              <a:cxnLst/>
              <a:rect l="l" t="t" r="r" b="b"/>
              <a:pathLst>
                <a:path w="8729037" h="4708482">
                  <a:moveTo>
                    <a:pt x="0" y="0"/>
                  </a:moveTo>
                  <a:lnTo>
                    <a:pt x="8729036" y="0"/>
                  </a:lnTo>
                  <a:lnTo>
                    <a:pt x="8729036" y="4708482"/>
                  </a:lnTo>
                  <a:lnTo>
                    <a:pt x="0" y="4708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11" r="-4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047147" y="806173"/>
            <a:ext cx="1341500" cy="1341500"/>
          </a:xfrm>
          <a:custGeom>
            <a:avLst/>
            <a:gdLst/>
            <a:ahLst/>
            <a:cxnLst/>
            <a:rect l="l" t="t" r="r" b="b"/>
            <a:pathLst>
              <a:path w="1341500" h="1341500">
                <a:moveTo>
                  <a:pt x="0" y="0"/>
                </a:moveTo>
                <a:lnTo>
                  <a:pt x="1341500" y="0"/>
                </a:lnTo>
                <a:lnTo>
                  <a:pt x="1341500" y="1341500"/>
                </a:lnTo>
                <a:lnTo>
                  <a:pt x="0" y="134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11013" y="308940"/>
            <a:ext cx="2334286" cy="2334286"/>
          </a:xfrm>
          <a:custGeom>
            <a:avLst/>
            <a:gdLst/>
            <a:ahLst/>
            <a:cxnLst/>
            <a:rect l="l" t="t" r="r" b="b"/>
            <a:pathLst>
              <a:path w="2334286" h="2334286">
                <a:moveTo>
                  <a:pt x="0" y="0"/>
                </a:moveTo>
                <a:lnTo>
                  <a:pt x="2334285" y="0"/>
                </a:lnTo>
                <a:lnTo>
                  <a:pt x="2334285" y="2334285"/>
                </a:lnTo>
                <a:lnTo>
                  <a:pt x="0" y="2334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403771" y="794967"/>
            <a:ext cx="1199908" cy="1343181"/>
          </a:xfrm>
          <a:custGeom>
            <a:avLst/>
            <a:gdLst/>
            <a:ahLst/>
            <a:cxnLst/>
            <a:rect l="l" t="t" r="r" b="b"/>
            <a:pathLst>
              <a:path w="1199908" h="1343181">
                <a:moveTo>
                  <a:pt x="0" y="0"/>
                </a:moveTo>
                <a:lnTo>
                  <a:pt x="1199908" y="0"/>
                </a:lnTo>
                <a:lnTo>
                  <a:pt x="1199908" y="1343181"/>
                </a:lnTo>
                <a:lnTo>
                  <a:pt x="0" y="13431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5729913" y="5630867"/>
            <a:ext cx="6608064" cy="4665819"/>
          </a:xfrm>
          <a:custGeom>
            <a:avLst/>
            <a:gdLst/>
            <a:ahLst/>
            <a:cxnLst/>
            <a:rect l="l" t="t" r="r" b="b"/>
            <a:pathLst>
              <a:path w="6608064" h="8415325">
                <a:moveTo>
                  <a:pt x="0" y="0"/>
                </a:moveTo>
                <a:lnTo>
                  <a:pt x="6608064" y="0"/>
                </a:lnTo>
                <a:lnTo>
                  <a:pt x="6608064" y="8415325"/>
                </a:lnTo>
                <a:lnTo>
                  <a:pt x="0" y="8415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6129" t="-236674" r="-108329" b="-8035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22"/>
          <p:cNvSpPr/>
          <p:nvPr/>
        </p:nvSpPr>
        <p:spPr>
          <a:xfrm>
            <a:off x="10284154" y="806173"/>
            <a:ext cx="1540743" cy="1409193"/>
          </a:xfrm>
          <a:custGeom>
            <a:avLst/>
            <a:gdLst/>
            <a:ahLst/>
            <a:cxnLst/>
            <a:rect l="l" t="t" r="r" b="b"/>
            <a:pathLst>
              <a:path w="1540743" h="1409193">
                <a:moveTo>
                  <a:pt x="0" y="0"/>
                </a:moveTo>
                <a:lnTo>
                  <a:pt x="1540744" y="0"/>
                </a:lnTo>
                <a:lnTo>
                  <a:pt x="1540744" y="1409193"/>
                </a:lnTo>
                <a:lnTo>
                  <a:pt x="0" y="1409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t="-173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4260730" y="806173"/>
            <a:ext cx="1480807" cy="1437732"/>
          </a:xfrm>
          <a:custGeom>
            <a:avLst/>
            <a:gdLst/>
            <a:ahLst/>
            <a:cxnLst/>
            <a:rect l="l" t="t" r="r" b="b"/>
            <a:pathLst>
              <a:path w="1480807" h="1437732">
                <a:moveTo>
                  <a:pt x="0" y="0"/>
                </a:moveTo>
                <a:lnTo>
                  <a:pt x="1480807" y="0"/>
                </a:lnTo>
                <a:lnTo>
                  <a:pt x="1480807" y="1437731"/>
                </a:lnTo>
                <a:lnTo>
                  <a:pt x="0" y="14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869" r="-3545" b="-2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3657600" y="3474720"/>
            <a:ext cx="10972800" cy="3840480"/>
          </a:xfrm>
          <a:prstGeom prst="roundRect">
            <a:avLst/>
          </a:prstGeom>
          <a:solidFill>
            <a:srgbClr val="0A121E">
              <a:alpha val="82000"/>
            </a:srgbClr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657600"/>
            <a:ext cx="10424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1">
                <a:solidFill>
                  <a:srgbClr val="FF4444"/>
                </a:solidFill>
              </a:rPr>
              <a:t>VajraGrid</a:t>
            </a:r>
          </a:p>
          <a:p>
            <a:pPr algn="ctr">
              <a:spcBef>
                <a:spcPts val="1200"/>
              </a:spcBef>
            </a:pPr>
            <a:r>
              <a:rPr sz="3400" b="0">
                <a:solidFill>
                  <a:srgbClr val="FFFFFF"/>
                </a:solidFill>
              </a:rPr>
              <a:t>AI-Driven Cyber Defense for Smart Power Grids</a:t>
            </a:r>
          </a:p>
          <a:p>
            <a:pPr algn="ctr">
              <a:spcBef>
                <a:spcPts val="1200"/>
              </a:spcBef>
            </a:pPr>
            <a:r>
              <a:rPr sz="2200" b="0">
                <a:solidFill>
                  <a:srgbClr val="999999"/>
                </a:solidFill>
              </a:rPr>
              <a:t>AMD Slingshot 2026  •  AI + Cybersecurity &amp; Privacy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8183880"/>
            <a:ext cx="4754880" cy="548640"/>
          </a:xfrm>
          <a:prstGeom prst="roundRect">
            <a:avLst/>
          </a:prstGeom>
          <a:solidFill>
            <a:srgbClr val="0A0A14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20"/>
          <p:cNvSpPr txBox="1"/>
          <p:nvPr/>
        </p:nvSpPr>
        <p:spPr>
          <a:xfrm>
            <a:off x="457200" y="8229600"/>
            <a:ext cx="4572000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2"/>
              </a:lnSpc>
              <a:spcBef>
                <a:spcPct val="0"/>
              </a:spcBef>
            </a:pPr>
            <a:r>
              <a:rPr sz="2800" b="1">
                <a:solidFill>
                  <a:srgbClr val="FFFFFF"/>
                </a:solidFill>
              </a:rPr>
              <a:t>Team Innovibe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8183880"/>
            <a:ext cx="8869680" cy="1005840"/>
          </a:xfrm>
          <a:prstGeom prst="roundRect">
            <a:avLst/>
          </a:prstGeom>
          <a:solidFill>
            <a:srgbClr val="0A0A14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CBECF1CE-150E-E718-DAC2-9A5E52CC05EB}"/>
              </a:ext>
            </a:extLst>
          </p:cNvPr>
          <p:cNvSpPr txBox="1"/>
          <p:nvPr/>
        </p:nvSpPr>
        <p:spPr>
          <a:xfrm>
            <a:off x="9144000" y="8229600"/>
            <a:ext cx="8686800" cy="914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2"/>
              </a:lnSpc>
              <a:spcBef>
                <a:spcPct val="0"/>
              </a:spcBef>
            </a:pPr>
            <a:r>
              <a:rPr sz="2400" b="1">
                <a:solidFill>
                  <a:srgbClr val="FFFFFF"/>
                </a:solidFill>
              </a:rPr>
              <a:t>D Shantan Dheer (Lead)</a:t>
            </a:r>
          </a:p>
          <a:p>
            <a:pPr algn="l"/>
            <a:r>
              <a:rPr sz="2200" b="0">
                <a:solidFill>
                  <a:srgbClr val="CCCCCC"/>
                </a:solidFill>
              </a:rPr>
              <a:t>MJ Emmanuel  •  Jakkula Tarun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/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D91AE1-965E-677C-F454-DA0BADCB1FB2}"/>
              </a:ext>
            </a:extLst>
          </p:cNvPr>
          <p:cNvSpPr txBox="1"/>
          <p:nvPr/>
        </p:nvSpPr>
        <p:spPr>
          <a:xfrm>
            <a:off x="1910056" y="1844093"/>
            <a:ext cx="1376627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2259" lvl="1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2600" b="1">
                <a:solidFill>
                  <a:srgbClr val="FFFFFF"/>
                </a:solidFill>
              </a:rPr>
              <a:t>India's 575+ GW grid is digitizing fast — 20 Cr+ smart meters create a massive attack surface with catastrophic consequences.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7360" y="3017520"/>
            <a:ext cx="3383280" cy="1645920"/>
          </a:xfrm>
          <a:prstGeom prst="roundRect">
            <a:avLst/>
          </a:prstGeom>
          <a:solidFill>
            <a:srgbClr val="101A2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3063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4444"/>
                </a:solidFill>
              </a:rPr>
              <a:t>₹100+ Cr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BBBBBB"/>
                </a:solidFill>
              </a:rPr>
              <a:t>Downtime Cost/hr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3017520"/>
            <a:ext cx="3383280" cy="1645920"/>
          </a:xfrm>
          <a:prstGeom prst="roundRect">
            <a:avLst/>
          </a:prstGeom>
          <a:solidFill>
            <a:srgbClr val="101A2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79" y="3063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4444"/>
                </a:solidFill>
              </a:rPr>
              <a:t>20 Million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BBBBBB"/>
                </a:solidFill>
              </a:rPr>
              <a:t>Affected Mumbai '20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3017520"/>
            <a:ext cx="3383280" cy="1645920"/>
          </a:xfrm>
          <a:prstGeom prst="roundRect">
            <a:avLst/>
          </a:prstGeom>
          <a:solidFill>
            <a:srgbClr val="101A2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063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4444"/>
                </a:solidFill>
              </a:rPr>
              <a:t>30-90 min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BBBBBB"/>
                </a:solidFill>
              </a:rPr>
              <a:t>Manual Response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573000" y="3017520"/>
            <a:ext cx="3383280" cy="1645920"/>
          </a:xfrm>
          <a:prstGeom prst="roundRect">
            <a:avLst/>
          </a:prstGeom>
          <a:solidFill>
            <a:srgbClr val="101A2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664440" y="30632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4444"/>
                </a:solidFill>
              </a:rPr>
              <a:t>ZERO</a:t>
            </a:r>
          </a:p>
          <a:p>
            <a:pPr algn="ctr">
              <a:spcBef>
                <a:spcPts val="400"/>
              </a:spcBef>
            </a:pPr>
            <a:r>
              <a:rPr sz="1800" b="0">
                <a:solidFill>
                  <a:srgbClr val="BBBBBB"/>
                </a:solidFill>
              </a:rPr>
              <a:t>AI Grid Defense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7360" y="4937760"/>
            <a:ext cx="7406640" cy="4389120"/>
          </a:xfrm>
          <a:prstGeom prst="roundRect">
            <a:avLst/>
          </a:prstGeom>
          <a:solidFill>
            <a:srgbClr val="121C2C"/>
          </a:solidFill>
          <a:ln w="19050">
            <a:solidFill>
              <a:srgbClr val="FF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4519" y="5047488"/>
            <a:ext cx="713232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8822"/>
                </a:solidFill>
              </a:rPr>
              <a:t>⚠  Real-World Incidents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DDDDDD"/>
                </a:solidFill>
              </a:rPr>
              <a:t>• 2020 Mumbai: RedEcho malware in SCADA
   20M people lost power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DDDDDD"/>
                </a:solidFill>
              </a:rPr>
              <a:t>• Ukraine 2015/16: Nation-state grid attacks
   caused cascading blackouts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DDDDDD"/>
                </a:solidFill>
              </a:rPr>
              <a:t>• India 2023: Ransomware on utilities
   zero automated response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4937760"/>
            <a:ext cx="7406640" cy="4389120"/>
          </a:xfrm>
          <a:prstGeom prst="roundRect">
            <a:avLst/>
          </a:prstGeom>
          <a:solidFill>
            <a:srgbClr val="121C2C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5047488"/>
            <a:ext cx="7132320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4444"/>
                </a:solidFill>
              </a:rPr>
              <a:t>🔴  Critical Gaps Today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DDDDDD"/>
                </a:solidFill>
              </a:rPr>
              <a:t>• Detection too slow — IT tools miss
   physics-based FDI attacks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DDDDDD"/>
                </a:solidFill>
              </a:rPr>
              <a:t>• Response is manual — 30-90 min to
   isolate, every second = cascading risk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DDDDDD"/>
                </a:solidFill>
              </a:rPr>
              <a:t>• No cyber-physical awareness — can't
   tell attacks from legitimate faults</a:t>
            </a:r>
          </a:p>
          <a:p>
            <a:pPr algn="l">
              <a:spcAft>
                <a:spcPts val="200"/>
              </a:spcAft>
            </a:pPr>
            <a:r>
              <a:rPr sz="2000" b="0">
                <a:solidFill>
                  <a:srgbClr val="DDDDDD"/>
                </a:solidFill>
              </a:rPr>
              <a:t>• AI underutilized — static rules easily
   evaded by adversaries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B077D-DAB4-07F0-66C3-C1F04BD3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AB0F6FC-F22F-7E12-05C1-840B7EB5D63D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59E4E52-1FC5-5401-F49B-F762C5A07C11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SOLUTION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7D18EDCC-430D-6FF6-8A3D-6DB27344ED99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C3D428E1-E21A-F829-0950-ECEEA47B9E92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616080-876E-C85C-46FF-5CD094E21496}"/>
              </a:ext>
            </a:extLst>
          </p:cNvPr>
          <p:cNvSpPr txBox="1"/>
          <p:nvPr/>
        </p:nvSpPr>
        <p:spPr>
          <a:xfrm>
            <a:off x="1910056" y="1844093"/>
            <a:ext cx="1376627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2259" lvl="1" algn="l">
              <a:defRPr/>
            </a:pPr>
            <a:r>
              <a:rPr sz="2800" b="1">
                <a:solidFill>
                  <a:srgbClr val="FFFFFF"/>
                </a:solidFill>
              </a:rPr>
              <a:t>4-Layer AI Detection  +  Autonomous VajraShield™ FLISR Healing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7360" y="2468880"/>
            <a:ext cx="3383280" cy="2377440"/>
          </a:xfrm>
          <a:prstGeom prst="roundRect">
            <a:avLst/>
          </a:prstGeom>
          <a:solidFill>
            <a:srgbClr val="101A28"/>
          </a:solidFill>
          <a:ln w="19050">
            <a:solidFill>
              <a:srgbClr val="226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4519" y="2651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</a:rPr>
              <a:t>Layer 1</a:t>
            </a:r>
          </a:p>
          <a:p>
            <a:pPr algn="ctr">
              <a:spcBef>
                <a:spcPts val="400"/>
              </a:spcBef>
            </a:pPr>
            <a:r>
              <a:rPr sz="2800" b="1">
                <a:solidFill>
                  <a:srgbClr val="2266BB"/>
                </a:solidFill>
              </a:rPr>
              <a:t>RULES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DDDDDD"/>
                </a:solidFill>
              </a:rPr>
              <a:t>9 threshold checks
&lt;100ms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383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2468880"/>
            <a:ext cx="3383280" cy="2377440"/>
          </a:xfrm>
          <a:prstGeom prst="roundRect">
            <a:avLst/>
          </a:prstGeom>
          <a:solidFill>
            <a:srgbClr val="101A28"/>
          </a:solidFill>
          <a:ln w="190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651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</a:rPr>
              <a:t>Layer 2</a:t>
            </a:r>
          </a:p>
          <a:p>
            <a:pPr algn="ctr">
              <a:spcBef>
                <a:spcPts val="400"/>
              </a:spcBef>
            </a:pPr>
            <a:r>
              <a:rPr sz="2800" b="1">
                <a:solidFill>
                  <a:srgbClr val="228844"/>
                </a:solidFill>
              </a:rPr>
              <a:t>PHYSICS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DDDDDD"/>
                </a:solidFill>
              </a:rPr>
              <a:t>4 Kirchhoff checks
&lt;100ms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383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2468880"/>
            <a:ext cx="3383280" cy="2377440"/>
          </a:xfrm>
          <a:prstGeom prst="roundRect">
            <a:avLst/>
          </a:prstGeom>
          <a:solidFill>
            <a:srgbClr val="101A28"/>
          </a:solidFill>
          <a:ln w="19050">
            <a:solidFill>
              <a:srgbClr val="BB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2651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</a:rPr>
              <a:t>Layer 3</a:t>
            </a:r>
          </a:p>
          <a:p>
            <a:pPr algn="ctr">
              <a:spcBef>
                <a:spcPts val="400"/>
              </a:spcBef>
            </a:pPr>
            <a:r>
              <a:rPr sz="2800" b="1">
                <a:solidFill>
                  <a:srgbClr val="BB8822"/>
                </a:solidFill>
              </a:rPr>
              <a:t>STATISTICS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DDDDDD"/>
                </a:solidFill>
              </a:rPr>
              <a:t>Z-score + CUSUM
&lt;200ms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52960" y="3383280"/>
            <a:ext cx="18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435840" y="2468880"/>
            <a:ext cx="3383280" cy="2377440"/>
          </a:xfrm>
          <a:prstGeom prst="roundRect">
            <a:avLst/>
          </a:prstGeom>
          <a:solidFill>
            <a:srgbClr val="101A28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573000" y="2651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8888"/>
                </a:solidFill>
              </a:rPr>
              <a:t>Layer 4</a:t>
            </a:r>
          </a:p>
          <a:p>
            <a:pPr algn="ctr">
              <a:spcBef>
                <a:spcPts val="400"/>
              </a:spcBef>
            </a:pPr>
            <a:r>
              <a:rPr sz="2800" b="1">
                <a:solidFill>
                  <a:srgbClr val="CC3333"/>
                </a:solidFill>
              </a:rPr>
              <a:t>ML / ONNX</a:t>
            </a:r>
          </a:p>
          <a:p>
            <a:pPr algn="ctr">
              <a:spcBef>
                <a:spcPts val="600"/>
              </a:spcBef>
            </a:pPr>
            <a:r>
              <a:rPr sz="1800" b="0">
                <a:solidFill>
                  <a:srgbClr val="DDDDDD"/>
                </a:solidFill>
              </a:rPr>
              <a:t>Isolation Forest
&lt;500ms • 95.8%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737360" y="5074920"/>
            <a:ext cx="14996159" cy="594360"/>
          </a:xfrm>
          <a:prstGeom prst="roundRect">
            <a:avLst/>
          </a:prstGeom>
          <a:solidFill>
            <a:srgbClr val="181010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5074920"/>
            <a:ext cx="1481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8844"/>
                </a:solidFill>
              </a:rPr>
              <a:t>ALERTCLASSIFIER FUSION  →  Confidence ≥ 0.90  →  Triggers VajraShield™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37360" y="5897880"/>
            <a:ext cx="14996159" cy="3840480"/>
          </a:xfrm>
          <a:prstGeom prst="roundRect">
            <a:avLst/>
          </a:prstGeom>
          <a:solidFill>
            <a:srgbClr val="0A180A"/>
          </a:solidFill>
          <a:ln w="1905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0" y="5989320"/>
            <a:ext cx="1481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FF44"/>
                </a:solidFill>
              </a:rPr>
              <a:t>VajraShield™ FLISR  —  Full Heal: 16 seconds  (vs 30-90 min manual)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6675120"/>
            <a:ext cx="2286000" cy="2377440"/>
          </a:xfrm>
          <a:prstGeom prst="roundRect">
            <a:avLst/>
          </a:prstGeom>
          <a:solidFill>
            <a:srgbClr val="122212"/>
          </a:solidFill>
          <a:ln w="1905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11680" y="699515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6FF66"/>
                </a:solidFill>
              </a:rPr>
              <a:t>DETECT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AADDAA"/>
                </a:solidFill>
              </a:rPr>
              <a:t>0-3s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763524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CC44"/>
                </a:solidFill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34256" y="6675120"/>
            <a:ext cx="2286000" cy="2377440"/>
          </a:xfrm>
          <a:prstGeom prst="roundRect">
            <a:avLst/>
          </a:prstGeom>
          <a:solidFill>
            <a:srgbClr val="122212"/>
          </a:solidFill>
          <a:ln w="1905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25696" y="699515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6FF66"/>
                </a:solidFill>
              </a:rPr>
              <a:t>ISOLATE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AADDAA"/>
                </a:solidFill>
              </a:rPr>
              <a:t>3-5s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0256" y="763524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CC44"/>
                </a:solidFill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48272" y="6675120"/>
            <a:ext cx="2286000" cy="2377440"/>
          </a:xfrm>
          <a:prstGeom prst="roundRect">
            <a:avLst/>
          </a:prstGeom>
          <a:solidFill>
            <a:srgbClr val="122212"/>
          </a:solidFill>
          <a:ln w="1905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9712" y="699515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6FF66"/>
                </a:solidFill>
              </a:rPr>
              <a:t>REROUTE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AADDAA"/>
                </a:solidFill>
              </a:rPr>
              <a:t>5-10s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763524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CC44"/>
                </a:solidFill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62288" y="6675120"/>
            <a:ext cx="2286000" cy="2377440"/>
          </a:xfrm>
          <a:prstGeom prst="roundRect">
            <a:avLst/>
          </a:prstGeom>
          <a:solidFill>
            <a:srgbClr val="122212"/>
          </a:solidFill>
          <a:ln w="1905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53728" y="699515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6FF66"/>
                </a:solidFill>
              </a:rPr>
              <a:t>MONITOR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AADDAA"/>
                </a:solidFill>
              </a:rPr>
              <a:t>10-13s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48288" y="763524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CC44"/>
                </a:solidFill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576304" y="6675120"/>
            <a:ext cx="2286000" cy="2377440"/>
          </a:xfrm>
          <a:prstGeom prst="roundRect">
            <a:avLst/>
          </a:prstGeom>
          <a:solidFill>
            <a:srgbClr val="122212"/>
          </a:solidFill>
          <a:ln w="1905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667744" y="699515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6FF66"/>
                </a:solidFill>
              </a:rPr>
              <a:t>RESTORE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AADDAA"/>
                </a:solidFill>
              </a:rPr>
              <a:t>13-16s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862304" y="7635240"/>
            <a:ext cx="1280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4CC44"/>
                </a:solidFill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990320" y="6675120"/>
            <a:ext cx="2286000" cy="2377440"/>
          </a:xfrm>
          <a:prstGeom prst="roundRect">
            <a:avLst/>
          </a:prstGeom>
          <a:solidFill>
            <a:srgbClr val="122212"/>
          </a:solidFill>
          <a:ln w="19050">
            <a:solidFill>
              <a:srgbClr val="44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081760" y="6995159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6FF66"/>
                </a:solidFill>
              </a:rPr>
              <a:t>DONE ✓</a:t>
            </a:r>
          </a:p>
          <a:p>
            <a:pPr algn="ctr">
              <a:spcBef>
                <a:spcPts val="800"/>
              </a:spcBef>
            </a:pPr>
            <a:r>
              <a:rPr sz="1800" b="0">
                <a:solidFill>
                  <a:srgbClr val="AADDAA"/>
                </a:solidFill>
              </a:rPr>
              <a:t>healed</a:t>
            </a:r>
          </a:p>
        </p:txBody>
      </p:sp>
    </p:spTree>
    <p:extLst>
      <p:ext uri="{BB962C8B-B14F-4D97-AF65-F5344CB8AC3E}">
        <p14:creationId xmlns:p14="http://schemas.microsoft.com/office/powerpoint/2010/main" val="1018536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04D6B-3E65-77F0-C2C3-BF8F9CAE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422206C-2DB9-C265-721B-A747F0E345D9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C10FDF8-5887-CC39-724A-B734BB4B0808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sz="4800" b="0">
                <a:solidFill>
                  <a:srgbClr val="FFFFFF"/>
                </a:solidFill>
              </a:rPr>
              <a:t>SYSTEM ARCHITECTURE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DF71C616-1981-D14F-7457-9FF40FCA5500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396D8A82-E4DA-F67F-D3EA-32E1A7CC6623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D9083E-BD26-2709-5A9B-3587DFFC3C43}"/>
              </a:ext>
            </a:extLst>
          </p:cNvPr>
          <p:cNvSpPr txBox="1"/>
          <p:nvPr/>
        </p:nvSpPr>
        <p:spPr>
          <a:xfrm>
            <a:off x="1910056" y="1844093"/>
            <a:ext cx="13766277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2259" lvl="1" algn="just">
              <a:defRPr/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1737360" y="1645920"/>
            <a:ext cx="14996159" cy="105156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226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1719072"/>
            <a:ext cx="36576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66BB"/>
                </a:solidFill>
              </a:rPr>
              <a:t>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1719072"/>
            <a:ext cx="109728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</a:rPr>
              <a:t>Next.js 16 + React 19 | Tailwind v4 | Recharts + React Flow | Mobile SOC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791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37360" y="2971800"/>
            <a:ext cx="14996159" cy="105156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3044952"/>
            <a:ext cx="36576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28844"/>
                </a:solidFill>
              </a:rPr>
              <a:t>API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044952"/>
            <a:ext cx="109728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</a:rPr>
              <a:t>REST: /api/simulation/{start,stop,attack} | SSE: /api/stream | Real-time push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005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7360" y="4297680"/>
            <a:ext cx="14996159" cy="105156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BB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4370832"/>
            <a:ext cx="36576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B8822"/>
                </a:solidFill>
              </a:rPr>
              <a:t>SIMULATION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370832"/>
            <a:ext cx="109728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</a:rPr>
              <a:t>DataGenerator → 5-bus telemetry (V, f, P, Q, θ) | 5 Attack Injectors | Indian loads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330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37360" y="5623560"/>
            <a:ext cx="14996159" cy="105156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5696712"/>
            <a:ext cx="36576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4444"/>
                </a:solidFill>
              </a:rPr>
              <a:t>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5696712"/>
            <a:ext cx="109728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</a:rPr>
              <a:t>Rules (9) → Physics (4) → Stats (Z+CUSUM) → ML/ONNX (Isolation Forest)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6568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737360" y="6949440"/>
            <a:ext cx="14996159" cy="105156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20240" y="7022592"/>
            <a:ext cx="36576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4444"/>
                </a:solidFill>
              </a:rPr>
              <a:t>VAJRASHIELD™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7022592"/>
            <a:ext cx="109728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</a:rPr>
              <a:t>FLISR: Locate → Isolate → Reroute → Restore | 16s full cycle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7982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</a:rPr>
              <a:t>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37360" y="8275320"/>
            <a:ext cx="14996159" cy="105156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8348472"/>
            <a:ext cx="36576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844CC"/>
                </a:solidFill>
              </a:rPr>
              <a:t>AMD HARDWARE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8348472"/>
            <a:ext cx="10972800" cy="905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DDDD"/>
                </a:solidFill>
              </a:rPr>
              <a:t>Edge: Ryzen AI NPU 50 TOPS + Vitis AI | Backend: EPYC AVX2+FMA3 | 15W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9692640"/>
            <a:ext cx="1499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ACCFF"/>
                </a:solidFill>
              </a:rPr>
              <a:t>SCADA (1Hz) → API → DataGenerator → Detection → AlertClassifier (≥0.90) → VajraShield™</a:t>
            </a:r>
          </a:p>
        </p:txBody>
      </p:sp>
    </p:spTree>
    <p:extLst>
      <p:ext uri="{BB962C8B-B14F-4D97-AF65-F5344CB8AC3E}">
        <p14:creationId xmlns:p14="http://schemas.microsoft.com/office/powerpoint/2010/main" val="1616393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5A241-4D30-26E2-773F-0ACAD9D02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4447F06-AB67-2128-B1DC-B57861969C75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C39FDC9-0795-3E87-2AA3-19411AEFFAD4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TECHNOLOGY USED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30913F65-1742-EBD2-1515-9C24D780C06A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4F0BC03F-DCE5-5D44-9E9D-069B786C3EBF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EC17AE-AADF-5BAD-669C-D9F8B9B3B4B1}"/>
              </a:ext>
            </a:extLst>
          </p:cNvPr>
          <p:cNvSpPr txBox="1"/>
          <p:nvPr/>
        </p:nvSpPr>
        <p:spPr>
          <a:xfrm>
            <a:off x="1910056" y="1844093"/>
            <a:ext cx="13766277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2259" lvl="1" algn="just">
              <a:defRPr/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1737360" y="1828800"/>
            <a:ext cx="3520440" cy="274320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226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201168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2266BB"/>
                </a:solidFill>
              </a:rPr>
              <a:t>Frontend</a:t>
            </a:r>
          </a:p>
          <a:p>
            <a:pPr algn="ctr"/>
            <a:r>
              <a:rPr sz="1900" b="0">
                <a:solidFill>
                  <a:srgbClr val="DDDDDD"/>
                </a:solidFill>
              </a:rPr>
              <a:t>Next.js 16 • React 19
TypeScript • Tailwind v4
Recharts • React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79" y="1828800"/>
            <a:ext cx="3520440" cy="274320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59" y="201168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CC4444"/>
                </a:solidFill>
              </a:rPr>
              <a:t>AI / ML</a:t>
            </a:r>
          </a:p>
          <a:p>
            <a:pPr algn="ctr"/>
            <a:r>
              <a:rPr sz="1900" b="0">
                <a:solidFill>
                  <a:srgbClr val="DDDDDD"/>
                </a:solidFill>
              </a:rPr>
              <a:t>ONNX Runtime
Isolation Forest
Vitis AI EP (edge)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1828800"/>
            <a:ext cx="3520440" cy="274320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201168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228844"/>
                </a:solidFill>
              </a:rPr>
              <a:t>Backend</a:t>
            </a:r>
          </a:p>
          <a:p>
            <a:pPr algn="ctr"/>
            <a:r>
              <a:rPr sz="1900" b="0">
                <a:solidFill>
                  <a:srgbClr val="DDDDDD"/>
                </a:solidFill>
              </a:rPr>
              <a:t>Next.js API Routes
SSE streaming
Socket.IO real-time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847319" y="1828800"/>
            <a:ext cx="3520440" cy="274320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BB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030199" y="201168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BB8822"/>
                </a:solidFill>
              </a:rPr>
              <a:t>Detection</a:t>
            </a:r>
          </a:p>
          <a:p>
            <a:pPr algn="ctr"/>
            <a:r>
              <a:rPr sz="1900" b="0">
                <a:solidFill>
                  <a:srgbClr val="DDDDDD"/>
                </a:solidFill>
              </a:rPr>
              <a:t>Rule Engine (9 rules)
Physics (4 Kirchhoff)
Z-score + CUSUM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37360" y="4800600"/>
            <a:ext cx="3520440" cy="274320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20240" y="498348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8844CC"/>
                </a:solidFill>
              </a:rPr>
              <a:t>Simulation</a:t>
            </a:r>
          </a:p>
          <a:p>
            <a:pPr algn="ctr"/>
            <a:r>
              <a:rPr sz="1900" b="0">
                <a:solidFill>
                  <a:srgbClr val="DDDDDD"/>
                </a:solidFill>
              </a:rPr>
              <a:t>5-bus grid model
5 attack injectors
Indian load curves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0679" y="4800600"/>
            <a:ext cx="3520440" cy="274320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FF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59" y="498348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8822"/>
                </a:solidFill>
              </a:rPr>
              <a:t>Self-Healing</a:t>
            </a:r>
          </a:p>
          <a:p>
            <a:pPr algn="ctr"/>
            <a:r>
              <a:rPr sz="1900" b="0">
                <a:solidFill>
                  <a:srgbClr val="DDDDDD"/>
                </a:solidFill>
              </a:rPr>
              <a:t>VajraShield™ FLISR
AlertClassifier fusion
Confidence thresholds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800600"/>
            <a:ext cx="3520440" cy="274320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44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98348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44AAAA"/>
                </a:solidFill>
              </a:rPr>
              <a:t>Testing</a:t>
            </a:r>
          </a:p>
          <a:p>
            <a:pPr algn="ctr"/>
            <a:r>
              <a:rPr sz="1900" b="0">
                <a:solidFill>
                  <a:srgbClr val="DDDDDD"/>
                </a:solidFill>
              </a:rPr>
              <a:t>Vitest: 37/37 pass
Playwright E2E
Testing Library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47319" y="4800600"/>
            <a:ext cx="3520440" cy="274320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030199" y="498348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4444"/>
                </a:solidFill>
              </a:rPr>
              <a:t>AMD Hardware</a:t>
            </a:r>
          </a:p>
          <a:p>
            <a:pPr algn="ctr"/>
            <a:r>
              <a:rPr sz="1900" b="0">
                <a:solidFill>
                  <a:srgbClr val="DDDDDD"/>
                </a:solidFill>
              </a:rPr>
              <a:t>Ryzen AI NPU 50 TOPS
EPYC AVX2+FMA3
ROCm GPU 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7772400"/>
            <a:ext cx="14996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8844"/>
                </a:solidFill>
              </a:rPr>
              <a:t>Full working prototype  •  37/37 tests passing  •  MIT Open Source  •  Not a concept</a:t>
            </a:r>
          </a:p>
        </p:txBody>
      </p:sp>
    </p:spTree>
    <p:extLst>
      <p:ext uri="{BB962C8B-B14F-4D97-AF65-F5344CB8AC3E}">
        <p14:creationId xmlns:p14="http://schemas.microsoft.com/office/powerpoint/2010/main" val="388001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7D5A6-CB2F-3BDD-73A1-D36AF9EE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30FDB0F-A61E-6FD3-8961-74C3ECF85D6A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2531482-6D9F-CEB9-EA73-3D0716E21B8F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FEATURE / USP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3E1E6DEF-BD2B-31DD-0C9D-D1E37420C9AF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E83FB86B-92EC-EF06-889A-9039B4102C65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D2C0A1-D2D4-2E29-9D09-8F54178F4FDB}"/>
              </a:ext>
            </a:extLst>
          </p:cNvPr>
          <p:cNvSpPr txBox="1"/>
          <p:nvPr/>
        </p:nvSpPr>
        <p:spPr>
          <a:xfrm>
            <a:off x="1910056" y="1844093"/>
            <a:ext cx="13766277" cy="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2259" lvl="1" algn="just">
              <a:defRPr/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1737360" y="1828800"/>
            <a:ext cx="4800600" cy="292608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226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210312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2266BB"/>
                </a:solidFill>
              </a:rPr>
              <a:t>⚡ 4-Layer Fusion</a:t>
            </a:r>
          </a:p>
          <a:p>
            <a:pPr algn="ctr"/>
            <a:r>
              <a:rPr sz="2000" b="0">
                <a:solidFill>
                  <a:srgbClr val="DDDDDD"/>
                </a:solidFill>
              </a:rPr>
              <a:t>Rules + Physics + Stats + ML
Each catches what others miss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1828800"/>
            <a:ext cx="4800600" cy="292608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22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210312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228844"/>
                </a:solidFill>
              </a:rPr>
              <a:t>🔬 Physics-Aware AI</a:t>
            </a:r>
          </a:p>
          <a:p>
            <a:pPr algn="ctr"/>
            <a:r>
              <a:rPr sz="2000" b="0">
                <a:solidFill>
                  <a:srgbClr val="DDDDDD"/>
                </a:solidFill>
              </a:rPr>
              <a:t>Validates Kirchhoff's laws
Catches FDI invisible to 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1828800"/>
            <a:ext cx="4800600" cy="292608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0" y="210312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4444"/>
                </a:solidFill>
              </a:rPr>
              <a:t>🛡 VajraShield™ FLISR</a:t>
            </a:r>
          </a:p>
          <a:p>
            <a:pPr algn="ctr"/>
            <a:r>
              <a:rPr sz="2000" b="0">
                <a:solidFill>
                  <a:srgbClr val="DDDDDD"/>
                </a:solidFill>
              </a:rPr>
              <a:t>Autonomous healing in 16s
Zero human intervention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37360" y="4983480"/>
            <a:ext cx="4800600" cy="292608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BB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25780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BB8822"/>
                </a:solidFill>
              </a:rPr>
              <a:t>💻 Edge AMD Ryzen AI</a:t>
            </a:r>
          </a:p>
          <a:p>
            <a:pPr algn="ctr"/>
            <a:r>
              <a:rPr sz="2000" b="0">
                <a:solidFill>
                  <a:srgbClr val="DDDDDD"/>
                </a:solidFill>
              </a:rPr>
              <a:t>NPU: 50 TOPS, 15W, &lt;5ms
Works on airgapped networks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983480"/>
            <a:ext cx="4800600" cy="292608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525780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8844CC"/>
                </a:solidFill>
              </a:rPr>
              <a:t>✅ Working Prototype</a:t>
            </a:r>
          </a:p>
          <a:p>
            <a:pPr algn="ctr"/>
            <a:r>
              <a:rPr sz="2000" b="0">
                <a:solidFill>
                  <a:srgbClr val="DDDDDD"/>
                </a:solidFill>
              </a:rPr>
              <a:t>Live dashboard, 5 attacks
37/37 tests, real 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4983480"/>
            <a:ext cx="4800600" cy="2926080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FF88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0" y="525780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8822"/>
                </a:solidFill>
              </a:rPr>
              <a:t>🇮🇳 Built for India</a:t>
            </a:r>
          </a:p>
          <a:p>
            <a:pPr algn="ctr"/>
            <a:r>
              <a:rPr sz="2000" b="0">
                <a:solidFill>
                  <a:srgbClr val="DDDDDD"/>
                </a:solidFill>
              </a:rPr>
              <a:t>Indian load curves, 50Hz
Scales to 250K+ substations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7955279"/>
            <a:ext cx="1499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4444"/>
                </a:solidFill>
              </a:rPr>
              <a:t>Cyber-physical defense — NOT a generic cybersecurity tool</a:t>
            </a:r>
          </a:p>
        </p:txBody>
      </p:sp>
    </p:spTree>
    <p:extLst>
      <p:ext uri="{BB962C8B-B14F-4D97-AF65-F5344CB8AC3E}">
        <p14:creationId xmlns:p14="http://schemas.microsoft.com/office/powerpoint/2010/main" val="266077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8126B-125D-0EFD-2E05-8E07BD11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FBFA6D5-B478-8C27-69F3-885898AF27D6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005A458-B660-BF69-5BEA-2E505385C354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References / links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F548C07C-5762-9153-B107-3B13CFB35F6C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C27A3264-E013-568F-B86C-03F63AE20D99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1737360" y="1828800"/>
            <a:ext cx="4800600" cy="7498079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226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79" y="2194560"/>
            <a:ext cx="4251960" cy="676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3000" b="1">
                <a:solidFill>
                  <a:srgbClr val="2266BB"/>
                </a:solidFill>
              </a:rPr>
              <a:t>GitHub Repositories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Primary: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6699FF"/>
                </a:solidFill>
              </a:rPr>
              <a:t>github.com/Imperialorg/vajragrid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Mirror:</a:t>
            </a:r>
          </a:p>
          <a:p>
            <a:pPr algn="ctr">
              <a:spcAft>
                <a:spcPts val="400"/>
              </a:spcAft>
            </a:pPr>
            <a:r>
              <a:rPr sz="2200" b="1">
                <a:solidFill>
                  <a:srgbClr val="6699FF"/>
                </a:solidFill>
              </a:rPr>
              <a:t>github.com/Aerosane/vajragridr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License: MIT Open Source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Stack: Next.js 16 + ONNX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Tests: 37/37 passing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828800"/>
            <a:ext cx="4800600" cy="7498079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59" y="2194560"/>
            <a:ext cx="4251960" cy="676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3000" b="1">
                <a:solidFill>
                  <a:srgbClr val="FF4444"/>
                </a:solidFill>
              </a:rPr>
              <a:t>Research References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Dragos OT ICS IR Reports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(2015-2024)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IEEE 9-Bus Test System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NERC CIP Standards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ICS-CERT SCADA Advisories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Insikt Group: RedEcho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India Grid Targeting (2021)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704320" y="1828800"/>
            <a:ext cx="4800600" cy="7498079"/>
          </a:xfrm>
          <a:prstGeom prst="roundRect">
            <a:avLst/>
          </a:prstGeom>
          <a:solidFill>
            <a:srgbClr val="101824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978640" y="2194560"/>
            <a:ext cx="4251960" cy="6766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3000" b="1">
                <a:solidFill>
                  <a:srgbClr val="8844CC"/>
                </a:solidFill>
              </a:rPr>
              <a:t>AMD Documentation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XDNA NPU Architecture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Ryzen AI Developer Docs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Vitis AI Execution Provider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for ONNX Runtime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EPYC AVX2/FMA3 Specs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DDDDDD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DDDDDD"/>
                </a:solidFill>
              </a:rPr>
              <a:t>• ROCm GPU Training Path</a:t>
            </a:r>
          </a:p>
        </p:txBody>
      </p:sp>
    </p:spTree>
    <p:extLst>
      <p:ext uri="{BB962C8B-B14F-4D97-AF65-F5344CB8AC3E}">
        <p14:creationId xmlns:p14="http://schemas.microsoft.com/office/powerpoint/2010/main" val="355580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C134C-CA76-06ED-1963-F0E58D879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560ABAF-1A19-B0EC-0E94-E3E52126FB07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A89584E8-6C3F-0B26-F3CC-A43B1C6E8E9A}"/>
              </a:ext>
            </a:extLst>
          </p:cNvPr>
          <p:cNvGrpSpPr/>
          <p:nvPr/>
        </p:nvGrpSpPr>
        <p:grpSpPr>
          <a:xfrm>
            <a:off x="420283" y="1638300"/>
            <a:ext cx="17447434" cy="1973484"/>
            <a:chOff x="0" y="0"/>
            <a:chExt cx="4351475" cy="49219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E73A9F6-BB79-5A94-3BB1-86921B34FEAC}"/>
                </a:ext>
              </a:extLst>
            </p:cNvPr>
            <p:cNvSpPr/>
            <p:nvPr/>
          </p:nvSpPr>
          <p:spPr>
            <a:xfrm>
              <a:off x="0" y="0"/>
              <a:ext cx="4351475" cy="492196"/>
            </a:xfrm>
            <a:custGeom>
              <a:avLst/>
              <a:gdLst/>
              <a:ahLst/>
              <a:cxnLst/>
              <a:rect l="l" t="t" r="r" b="b"/>
              <a:pathLst>
                <a:path w="4351475" h="492196">
                  <a:moveTo>
                    <a:pt x="44373" y="0"/>
                  </a:moveTo>
                  <a:lnTo>
                    <a:pt x="4307102" y="0"/>
                  </a:lnTo>
                  <a:cubicBezTo>
                    <a:pt x="4318870" y="0"/>
                    <a:pt x="4330157" y="4675"/>
                    <a:pt x="4338479" y="12997"/>
                  </a:cubicBezTo>
                  <a:cubicBezTo>
                    <a:pt x="4346800" y="21318"/>
                    <a:pt x="4351475" y="32604"/>
                    <a:pt x="4351475" y="44373"/>
                  </a:cubicBezTo>
                  <a:lnTo>
                    <a:pt x="4351475" y="447824"/>
                  </a:lnTo>
                  <a:cubicBezTo>
                    <a:pt x="4351475" y="459592"/>
                    <a:pt x="4346800" y="470878"/>
                    <a:pt x="4338479" y="479200"/>
                  </a:cubicBezTo>
                  <a:cubicBezTo>
                    <a:pt x="4330157" y="487522"/>
                    <a:pt x="4318870" y="492196"/>
                    <a:pt x="4307102" y="492196"/>
                  </a:cubicBezTo>
                  <a:lnTo>
                    <a:pt x="44373" y="492196"/>
                  </a:lnTo>
                  <a:cubicBezTo>
                    <a:pt x="32604" y="492196"/>
                    <a:pt x="21318" y="487522"/>
                    <a:pt x="12997" y="479200"/>
                  </a:cubicBezTo>
                  <a:cubicBezTo>
                    <a:pt x="4675" y="470878"/>
                    <a:pt x="0" y="459592"/>
                    <a:pt x="0" y="447824"/>
                  </a:cubicBezTo>
                  <a:lnTo>
                    <a:pt x="0" y="44373"/>
                  </a:lnTo>
                  <a:cubicBezTo>
                    <a:pt x="0" y="32604"/>
                    <a:pt x="4675" y="21318"/>
                    <a:pt x="12997" y="12997"/>
                  </a:cubicBezTo>
                  <a:cubicBezTo>
                    <a:pt x="21318" y="4675"/>
                    <a:pt x="32604" y="0"/>
                    <a:pt x="44373" y="0"/>
                  </a:cubicBezTo>
                  <a:close/>
                </a:path>
              </a:pathLst>
            </a:custGeom>
            <a:solidFill>
              <a:srgbClr val="000000">
                <a:alpha val="34902"/>
              </a:srgbClr>
            </a:solidFill>
            <a:ln w="38100" cap="rnd">
              <a:solidFill>
                <a:srgbClr val="E47F42">
                  <a:alpha val="3490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FC01D0A-E1D8-3BA6-A12F-807FC7A837A8}"/>
                </a:ext>
              </a:extLst>
            </p:cNvPr>
            <p:cNvSpPr txBox="1"/>
            <p:nvPr/>
          </p:nvSpPr>
          <p:spPr>
            <a:xfrm>
              <a:off x="0" y="-47625"/>
              <a:ext cx="4351475" cy="539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EF09403E-B3C6-F429-69CD-57B20953B3BE}"/>
              </a:ext>
            </a:extLst>
          </p:cNvPr>
          <p:cNvSpPr/>
          <p:nvPr/>
        </p:nvSpPr>
        <p:spPr>
          <a:xfrm>
            <a:off x="7747368" y="1638300"/>
            <a:ext cx="2218659" cy="1890160"/>
          </a:xfrm>
          <a:custGeom>
            <a:avLst/>
            <a:gdLst/>
            <a:ahLst/>
            <a:cxnLst/>
            <a:rect l="l" t="t" r="r" b="b"/>
            <a:pathLst>
              <a:path w="2218659" h="1890160">
                <a:moveTo>
                  <a:pt x="0" y="0"/>
                </a:moveTo>
                <a:lnTo>
                  <a:pt x="2218659" y="0"/>
                </a:lnTo>
                <a:lnTo>
                  <a:pt x="2218659" y="1890160"/>
                </a:lnTo>
                <a:lnTo>
                  <a:pt x="0" y="18901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7B59C9B-65DC-FE94-F3B2-88EC5DBFB950}"/>
              </a:ext>
            </a:extLst>
          </p:cNvPr>
          <p:cNvSpPr/>
          <p:nvPr/>
        </p:nvSpPr>
        <p:spPr>
          <a:xfrm>
            <a:off x="6192802" y="1979694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133FA8-8CA7-7538-0DFD-0B6252C4FE1E}"/>
              </a:ext>
            </a:extLst>
          </p:cNvPr>
          <p:cNvSpPr/>
          <p:nvPr/>
        </p:nvSpPr>
        <p:spPr>
          <a:xfrm>
            <a:off x="2640480" y="2095500"/>
            <a:ext cx="1247279" cy="1046956"/>
          </a:xfrm>
          <a:custGeom>
            <a:avLst/>
            <a:gdLst/>
            <a:ahLst/>
            <a:cxnLst/>
            <a:rect l="l" t="t" r="r" b="b"/>
            <a:pathLst>
              <a:path w="1105101" h="771461">
                <a:moveTo>
                  <a:pt x="0" y="0"/>
                </a:moveTo>
                <a:lnTo>
                  <a:pt x="1105101" y="0"/>
                </a:lnTo>
                <a:lnTo>
                  <a:pt x="1105101" y="771461"/>
                </a:lnTo>
                <a:lnTo>
                  <a:pt x="0" y="7714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4642" r="-63095" b="-479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71C0389-C087-6BDF-47A2-1B68981FFCF9}"/>
              </a:ext>
            </a:extLst>
          </p:cNvPr>
          <p:cNvSpPr/>
          <p:nvPr/>
        </p:nvSpPr>
        <p:spPr>
          <a:xfrm>
            <a:off x="14054012" y="1854241"/>
            <a:ext cx="1677177" cy="1674219"/>
          </a:xfrm>
          <a:custGeom>
            <a:avLst/>
            <a:gdLst/>
            <a:ahLst/>
            <a:cxnLst/>
            <a:rect l="l" t="t" r="r" b="b"/>
            <a:pathLst>
              <a:path w="1677177" h="1674219">
                <a:moveTo>
                  <a:pt x="0" y="0"/>
                </a:moveTo>
                <a:lnTo>
                  <a:pt x="1677178" y="0"/>
                </a:lnTo>
                <a:lnTo>
                  <a:pt x="1677178" y="1674219"/>
                </a:lnTo>
                <a:lnTo>
                  <a:pt x="0" y="16742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36" t="-507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5C3A55C2-75B1-DA62-3A80-950C405B9E2B}"/>
              </a:ext>
            </a:extLst>
          </p:cNvPr>
          <p:cNvSpPr/>
          <p:nvPr/>
        </p:nvSpPr>
        <p:spPr>
          <a:xfrm>
            <a:off x="15983130" y="1925326"/>
            <a:ext cx="1341500" cy="1341500"/>
          </a:xfrm>
          <a:custGeom>
            <a:avLst/>
            <a:gdLst/>
            <a:ahLst/>
            <a:cxnLst/>
            <a:rect l="l" t="t" r="r" b="b"/>
            <a:pathLst>
              <a:path w="1341500" h="1341500">
                <a:moveTo>
                  <a:pt x="0" y="0"/>
                </a:moveTo>
                <a:lnTo>
                  <a:pt x="1341500" y="0"/>
                </a:lnTo>
                <a:lnTo>
                  <a:pt x="1341500" y="1341500"/>
                </a:lnTo>
                <a:lnTo>
                  <a:pt x="0" y="134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5">
            <a:extLst>
              <a:ext uri="{FF2B5EF4-FFF2-40B4-BE49-F238E27FC236}">
                <a16:creationId xmlns:a16="http://schemas.microsoft.com/office/drawing/2014/main" id="{B18C9F32-5FE9-EB12-0961-80E99DB7A12D}"/>
              </a:ext>
            </a:extLst>
          </p:cNvPr>
          <p:cNvSpPr/>
          <p:nvPr/>
        </p:nvSpPr>
        <p:spPr>
          <a:xfrm>
            <a:off x="546996" y="1428093"/>
            <a:ext cx="2334286" cy="2334286"/>
          </a:xfrm>
          <a:custGeom>
            <a:avLst/>
            <a:gdLst/>
            <a:ahLst/>
            <a:cxnLst/>
            <a:rect l="l" t="t" r="r" b="b"/>
            <a:pathLst>
              <a:path w="2334286" h="2334286">
                <a:moveTo>
                  <a:pt x="0" y="0"/>
                </a:moveTo>
                <a:lnTo>
                  <a:pt x="2334285" y="0"/>
                </a:lnTo>
                <a:lnTo>
                  <a:pt x="2334285" y="2334285"/>
                </a:lnTo>
                <a:lnTo>
                  <a:pt x="0" y="2334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36AD78C3-D308-F0E5-18D9-3A58E39DB598}"/>
              </a:ext>
            </a:extLst>
          </p:cNvPr>
          <p:cNvSpPr/>
          <p:nvPr/>
        </p:nvSpPr>
        <p:spPr>
          <a:xfrm>
            <a:off x="12339754" y="1914120"/>
            <a:ext cx="1199908" cy="1343181"/>
          </a:xfrm>
          <a:custGeom>
            <a:avLst/>
            <a:gdLst/>
            <a:ahLst/>
            <a:cxnLst/>
            <a:rect l="l" t="t" r="r" b="b"/>
            <a:pathLst>
              <a:path w="1199908" h="1343181">
                <a:moveTo>
                  <a:pt x="0" y="0"/>
                </a:moveTo>
                <a:lnTo>
                  <a:pt x="1199908" y="0"/>
                </a:lnTo>
                <a:lnTo>
                  <a:pt x="1199908" y="1343181"/>
                </a:lnTo>
                <a:lnTo>
                  <a:pt x="0" y="13431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549920B4-6D0D-FABF-FD18-D12C4F6D0650}"/>
              </a:ext>
            </a:extLst>
          </p:cNvPr>
          <p:cNvSpPr/>
          <p:nvPr/>
        </p:nvSpPr>
        <p:spPr>
          <a:xfrm>
            <a:off x="10220137" y="1925326"/>
            <a:ext cx="1540743" cy="1409193"/>
          </a:xfrm>
          <a:custGeom>
            <a:avLst/>
            <a:gdLst/>
            <a:ahLst/>
            <a:cxnLst/>
            <a:rect l="l" t="t" r="r" b="b"/>
            <a:pathLst>
              <a:path w="1540743" h="1409193">
                <a:moveTo>
                  <a:pt x="0" y="0"/>
                </a:moveTo>
                <a:lnTo>
                  <a:pt x="1540744" y="0"/>
                </a:lnTo>
                <a:lnTo>
                  <a:pt x="1540744" y="1409193"/>
                </a:lnTo>
                <a:lnTo>
                  <a:pt x="0" y="1409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90" t="-173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773062BA-853E-4B52-EC0F-114DE1C52802}"/>
              </a:ext>
            </a:extLst>
          </p:cNvPr>
          <p:cNvSpPr/>
          <p:nvPr/>
        </p:nvSpPr>
        <p:spPr>
          <a:xfrm>
            <a:off x="4196713" y="1925326"/>
            <a:ext cx="1480807" cy="1437732"/>
          </a:xfrm>
          <a:custGeom>
            <a:avLst/>
            <a:gdLst/>
            <a:ahLst/>
            <a:cxnLst/>
            <a:rect l="l" t="t" r="r" b="b"/>
            <a:pathLst>
              <a:path w="1480807" h="1437732">
                <a:moveTo>
                  <a:pt x="0" y="0"/>
                </a:moveTo>
                <a:lnTo>
                  <a:pt x="1480807" y="0"/>
                </a:lnTo>
                <a:lnTo>
                  <a:pt x="1480807" y="1437731"/>
                </a:lnTo>
                <a:lnTo>
                  <a:pt x="0" y="14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869" r="-3545" b="-2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5C872B-9AB9-428E-7CDA-D6BDAA0B175D}"/>
              </a:ext>
            </a:extLst>
          </p:cNvPr>
          <p:cNvSpPr/>
          <p:nvPr/>
        </p:nvSpPr>
        <p:spPr>
          <a:xfrm>
            <a:off x="5383676" y="4681835"/>
            <a:ext cx="752064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cap="none" spc="0" dirty="0">
                <a:ln w="22225">
                  <a:noFill/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6583680"/>
            <a:ext cx="11887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4444"/>
                </a:solidFill>
              </a:rPr>
              <a:t>VajraGrid  •  Team Innovibe</a:t>
            </a:r>
          </a:p>
          <a:p>
            <a:pPr algn="ctr">
              <a:spcBef>
                <a:spcPts val="1000"/>
              </a:spcBef>
            </a:pPr>
            <a:r>
              <a:rPr sz="2600" b="0">
                <a:solidFill>
                  <a:srgbClr val="DDDDDD"/>
                </a:solidFill>
              </a:rPr>
              <a:t>AI-Driven Cyber Defense for Smart Power Grids</a:t>
            </a:r>
          </a:p>
          <a:p>
            <a:pPr algn="ctr">
              <a:spcBef>
                <a:spcPts val="1000"/>
              </a:spcBef>
            </a:pPr>
            <a:r>
              <a:rPr sz="2200" b="0">
                <a:solidFill>
                  <a:srgbClr val="AAAAAA"/>
                </a:solidFill>
              </a:rPr>
              <a:t>D Shantan Dheer  •  MJ Emmanuel  •  Jakkula Tarun</a:t>
            </a:r>
          </a:p>
          <a:p>
            <a:pPr algn="ctr">
              <a:spcBef>
                <a:spcPts val="1000"/>
              </a:spcBef>
            </a:pPr>
            <a:r>
              <a:rPr sz="2400" b="1">
                <a:solidFill>
                  <a:srgbClr val="6699FF"/>
                </a:solidFill>
              </a:rPr>
              <a:t>github.com/Imperialorg/vajragrid</a:t>
            </a:r>
          </a:p>
        </p:txBody>
      </p:sp>
    </p:spTree>
    <p:extLst>
      <p:ext uri="{BB962C8B-B14F-4D97-AF65-F5344CB8AC3E}">
        <p14:creationId xmlns:p14="http://schemas.microsoft.com/office/powerpoint/2010/main" val="17626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202</Words>
  <Application>Microsoft Office PowerPoint</Application>
  <PresentationFormat>Custom</PresentationFormat>
  <Paragraphs>15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Copy of Copy of Copy of India innovates</dc:title>
  <dc:creator>DEVAANSH</dc:creator>
  <cp:lastModifiedBy>Usha Shree</cp:lastModifiedBy>
  <cp:revision>10</cp:revision>
  <dcterms:created xsi:type="dcterms:W3CDTF">2006-08-16T00:00:00Z</dcterms:created>
  <dcterms:modified xsi:type="dcterms:W3CDTF">2026-02-21T17:44:19Z</dcterms:modified>
  <dc:identifier>DAHB9eJZGBc</dc:identifier>
</cp:coreProperties>
</file>